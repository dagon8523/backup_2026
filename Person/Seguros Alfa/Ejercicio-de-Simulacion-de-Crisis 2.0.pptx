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57" r:id="rId4"/>
    <p:sldId id="258" r:id="rId5"/>
    <p:sldId id="259" r:id="rId6"/>
    <p:sldId id="260" r:id="rId7"/>
    <p:sldId id="261" r:id="rId8"/>
    <p:sldId id="262" r:id="rId9"/>
    <p:sldId id="263" r:id="rId10"/>
    <p:sldId id="264" r:id="rId11"/>
    <p:sldId id="266" r:id="rId12"/>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01" d="100"/>
          <a:sy n="101" d="100"/>
        </p:scale>
        <p:origin x="66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062B9E-0082-4AC2-3E5C-4E3EFE0B06E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18396E9-62A8-9992-1873-00006F986E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102E8A88-5829-04A5-5A59-181E40CA4B17}"/>
              </a:ext>
            </a:extLst>
          </p:cNvPr>
          <p:cNvSpPr>
            <a:spLocks noGrp="1"/>
          </p:cNvSpPr>
          <p:nvPr>
            <p:ph type="dt" sz="half" idx="10"/>
          </p:nvPr>
        </p:nvSpPr>
        <p:spPr/>
        <p:txBody>
          <a:bodyPr/>
          <a:lstStyle/>
          <a:p>
            <a:fld id="{D32AA02F-BDDA-4EF3-A8F4-2AA951BFA3C1}" type="datetimeFigureOut">
              <a:rPr lang="es-CO" smtClean="0"/>
              <a:t>23/04/2026</a:t>
            </a:fld>
            <a:endParaRPr lang="es-CO"/>
          </a:p>
        </p:txBody>
      </p:sp>
      <p:sp>
        <p:nvSpPr>
          <p:cNvPr id="5" name="Marcador de pie de página 4">
            <a:extLst>
              <a:ext uri="{FF2B5EF4-FFF2-40B4-BE49-F238E27FC236}">
                <a16:creationId xmlns:a16="http://schemas.microsoft.com/office/drawing/2014/main" id="{874E9AFE-BB8B-48C8-9BC3-F588BBF44CE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29052F9-C1C7-732A-E344-1DF3A6E97F6D}"/>
              </a:ext>
            </a:extLst>
          </p:cNvPr>
          <p:cNvSpPr>
            <a:spLocks noGrp="1"/>
          </p:cNvSpPr>
          <p:nvPr>
            <p:ph type="sldNum" sz="quarter" idx="12"/>
          </p:nvPr>
        </p:nvSpPr>
        <p:spPr/>
        <p:txBody>
          <a:bodyPr/>
          <a:lstStyle/>
          <a:p>
            <a:fld id="{6D83F698-6B2A-4A5B-98F5-F2F9E5B2F1B5}" type="slidenum">
              <a:rPr lang="es-CO" smtClean="0"/>
              <a:t>‹Nº›</a:t>
            </a:fld>
            <a:endParaRPr lang="es-CO"/>
          </a:p>
        </p:txBody>
      </p:sp>
      <p:pic>
        <p:nvPicPr>
          <p:cNvPr id="8" name="Imagen 7" descr="Icono&#10;&#10;El contenido generado por IA puede ser incorrecto.">
            <a:extLst>
              <a:ext uri="{FF2B5EF4-FFF2-40B4-BE49-F238E27FC236}">
                <a16:creationId xmlns:a16="http://schemas.microsoft.com/office/drawing/2014/main" id="{C4137B59-3FB0-1639-A753-D3CC913D2CF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68000" y="27823"/>
            <a:ext cx="1096652" cy="1096652"/>
          </a:xfrm>
          <a:prstGeom prst="rect">
            <a:avLst/>
          </a:prstGeom>
        </p:spPr>
      </p:pic>
    </p:spTree>
    <p:extLst>
      <p:ext uri="{BB962C8B-B14F-4D97-AF65-F5344CB8AC3E}">
        <p14:creationId xmlns:p14="http://schemas.microsoft.com/office/powerpoint/2010/main" val="2443240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1B6B0E-8675-2616-9952-EFBB20E7EB3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4C1F1356-63DD-795C-B7E8-14E20E9CF66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4360517-02D7-B168-3700-B03282A5A776}"/>
              </a:ext>
            </a:extLst>
          </p:cNvPr>
          <p:cNvSpPr>
            <a:spLocks noGrp="1"/>
          </p:cNvSpPr>
          <p:nvPr>
            <p:ph type="dt" sz="half" idx="10"/>
          </p:nvPr>
        </p:nvSpPr>
        <p:spPr/>
        <p:txBody>
          <a:bodyPr/>
          <a:lstStyle/>
          <a:p>
            <a:fld id="{D32AA02F-BDDA-4EF3-A8F4-2AA951BFA3C1}" type="datetimeFigureOut">
              <a:rPr lang="es-CO" smtClean="0"/>
              <a:t>23/04/2026</a:t>
            </a:fld>
            <a:endParaRPr lang="es-CO"/>
          </a:p>
        </p:txBody>
      </p:sp>
      <p:sp>
        <p:nvSpPr>
          <p:cNvPr id="5" name="Marcador de pie de página 4">
            <a:extLst>
              <a:ext uri="{FF2B5EF4-FFF2-40B4-BE49-F238E27FC236}">
                <a16:creationId xmlns:a16="http://schemas.microsoft.com/office/drawing/2014/main" id="{4EF0401E-ED74-1913-C6EF-F8C0D31DFAD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D93C928-6084-E4C6-E702-A3E43ADEABF8}"/>
              </a:ext>
            </a:extLst>
          </p:cNvPr>
          <p:cNvSpPr>
            <a:spLocks noGrp="1"/>
          </p:cNvSpPr>
          <p:nvPr>
            <p:ph type="sldNum" sz="quarter" idx="12"/>
          </p:nvPr>
        </p:nvSpPr>
        <p:spPr/>
        <p:txBody>
          <a:bodyPr/>
          <a:lstStyle/>
          <a:p>
            <a:fld id="{6D83F698-6B2A-4A5B-98F5-F2F9E5B2F1B5}" type="slidenum">
              <a:rPr lang="es-CO" smtClean="0"/>
              <a:t>‹Nº›</a:t>
            </a:fld>
            <a:endParaRPr lang="es-CO"/>
          </a:p>
        </p:txBody>
      </p:sp>
    </p:spTree>
    <p:extLst>
      <p:ext uri="{BB962C8B-B14F-4D97-AF65-F5344CB8AC3E}">
        <p14:creationId xmlns:p14="http://schemas.microsoft.com/office/powerpoint/2010/main" val="942256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06A076-A260-BC90-B959-4A5C9DF57AC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DBF9183-2DFA-7519-BD33-5D020D9816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EAFE8F-8805-4422-28EA-83377A4B807D}"/>
              </a:ext>
            </a:extLst>
          </p:cNvPr>
          <p:cNvSpPr>
            <a:spLocks noGrp="1"/>
          </p:cNvSpPr>
          <p:nvPr>
            <p:ph type="dt" sz="half" idx="10"/>
          </p:nvPr>
        </p:nvSpPr>
        <p:spPr/>
        <p:txBody>
          <a:bodyPr/>
          <a:lstStyle/>
          <a:p>
            <a:fld id="{D32AA02F-BDDA-4EF3-A8F4-2AA951BFA3C1}" type="datetimeFigureOut">
              <a:rPr lang="es-CO" smtClean="0"/>
              <a:t>23/04/2026</a:t>
            </a:fld>
            <a:endParaRPr lang="es-CO"/>
          </a:p>
        </p:txBody>
      </p:sp>
      <p:sp>
        <p:nvSpPr>
          <p:cNvPr id="5" name="Marcador de pie de página 4">
            <a:extLst>
              <a:ext uri="{FF2B5EF4-FFF2-40B4-BE49-F238E27FC236}">
                <a16:creationId xmlns:a16="http://schemas.microsoft.com/office/drawing/2014/main" id="{7113F298-7601-EC33-5BE2-CA59ADD50FE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AD38BF0-EA38-033D-3AEF-CAA7D87878CE}"/>
              </a:ext>
            </a:extLst>
          </p:cNvPr>
          <p:cNvSpPr>
            <a:spLocks noGrp="1"/>
          </p:cNvSpPr>
          <p:nvPr>
            <p:ph type="sldNum" sz="quarter" idx="12"/>
          </p:nvPr>
        </p:nvSpPr>
        <p:spPr/>
        <p:txBody>
          <a:bodyPr/>
          <a:lstStyle/>
          <a:p>
            <a:fld id="{6D83F698-6B2A-4A5B-98F5-F2F9E5B2F1B5}" type="slidenum">
              <a:rPr lang="es-CO" smtClean="0"/>
              <a:t>‹Nº›</a:t>
            </a:fld>
            <a:endParaRPr lang="es-CO"/>
          </a:p>
        </p:txBody>
      </p:sp>
    </p:spTree>
    <p:extLst>
      <p:ext uri="{BB962C8B-B14F-4D97-AF65-F5344CB8AC3E}">
        <p14:creationId xmlns:p14="http://schemas.microsoft.com/office/powerpoint/2010/main" val="617718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638E56-236D-67ED-1267-F890570090F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781D567-02EA-E4B1-CC8A-FD0EF8AC18D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E5EA567-994B-B21E-15EB-6AE11A5C52C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59368219-E4FA-13CB-2F52-1DC5753465EF}"/>
              </a:ext>
            </a:extLst>
          </p:cNvPr>
          <p:cNvSpPr>
            <a:spLocks noGrp="1"/>
          </p:cNvSpPr>
          <p:nvPr>
            <p:ph type="dt" sz="half" idx="10"/>
          </p:nvPr>
        </p:nvSpPr>
        <p:spPr/>
        <p:txBody>
          <a:bodyPr/>
          <a:lstStyle/>
          <a:p>
            <a:fld id="{D32AA02F-BDDA-4EF3-A8F4-2AA951BFA3C1}" type="datetimeFigureOut">
              <a:rPr lang="es-CO" smtClean="0"/>
              <a:t>23/04/2026</a:t>
            </a:fld>
            <a:endParaRPr lang="es-CO"/>
          </a:p>
        </p:txBody>
      </p:sp>
      <p:sp>
        <p:nvSpPr>
          <p:cNvPr id="6" name="Marcador de pie de página 5">
            <a:extLst>
              <a:ext uri="{FF2B5EF4-FFF2-40B4-BE49-F238E27FC236}">
                <a16:creationId xmlns:a16="http://schemas.microsoft.com/office/drawing/2014/main" id="{89610B7C-1265-0506-591D-5C9ADAE5E94F}"/>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E79FCC76-C055-EA24-C558-C84620638864}"/>
              </a:ext>
            </a:extLst>
          </p:cNvPr>
          <p:cNvSpPr>
            <a:spLocks noGrp="1"/>
          </p:cNvSpPr>
          <p:nvPr>
            <p:ph type="sldNum" sz="quarter" idx="12"/>
          </p:nvPr>
        </p:nvSpPr>
        <p:spPr/>
        <p:txBody>
          <a:bodyPr/>
          <a:lstStyle/>
          <a:p>
            <a:fld id="{6D83F698-6B2A-4A5B-98F5-F2F9E5B2F1B5}" type="slidenum">
              <a:rPr lang="es-CO" smtClean="0"/>
              <a:t>‹Nº›</a:t>
            </a:fld>
            <a:endParaRPr lang="es-CO"/>
          </a:p>
        </p:txBody>
      </p:sp>
    </p:spTree>
    <p:extLst>
      <p:ext uri="{BB962C8B-B14F-4D97-AF65-F5344CB8AC3E}">
        <p14:creationId xmlns:p14="http://schemas.microsoft.com/office/powerpoint/2010/main" val="270092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3817B3-8433-6E08-8EA7-1F0A3968DBE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ED1521F-1E52-8723-A360-FB91D41A14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9002FBB-7935-9ACF-CC4B-8E020E7B32D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4FA874A4-A32B-59F5-2E6D-5755444DDB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57F6BC9-B6F9-B321-43D6-79FBB7350E6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9B21848A-8687-807A-9CF1-43EB4BF68767}"/>
              </a:ext>
            </a:extLst>
          </p:cNvPr>
          <p:cNvSpPr>
            <a:spLocks noGrp="1"/>
          </p:cNvSpPr>
          <p:nvPr>
            <p:ph type="dt" sz="half" idx="10"/>
          </p:nvPr>
        </p:nvSpPr>
        <p:spPr/>
        <p:txBody>
          <a:bodyPr/>
          <a:lstStyle/>
          <a:p>
            <a:fld id="{D32AA02F-BDDA-4EF3-A8F4-2AA951BFA3C1}" type="datetimeFigureOut">
              <a:rPr lang="es-CO" smtClean="0"/>
              <a:t>23/04/2026</a:t>
            </a:fld>
            <a:endParaRPr lang="es-CO"/>
          </a:p>
        </p:txBody>
      </p:sp>
      <p:sp>
        <p:nvSpPr>
          <p:cNvPr id="8" name="Marcador de pie de página 7">
            <a:extLst>
              <a:ext uri="{FF2B5EF4-FFF2-40B4-BE49-F238E27FC236}">
                <a16:creationId xmlns:a16="http://schemas.microsoft.com/office/drawing/2014/main" id="{15BA37DE-9C0C-1936-CD5C-896962E7877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1AA47C67-03A8-B4AF-C7CD-46C109FAB54B}"/>
              </a:ext>
            </a:extLst>
          </p:cNvPr>
          <p:cNvSpPr>
            <a:spLocks noGrp="1"/>
          </p:cNvSpPr>
          <p:nvPr>
            <p:ph type="sldNum" sz="quarter" idx="12"/>
          </p:nvPr>
        </p:nvSpPr>
        <p:spPr/>
        <p:txBody>
          <a:bodyPr/>
          <a:lstStyle/>
          <a:p>
            <a:fld id="{6D83F698-6B2A-4A5B-98F5-F2F9E5B2F1B5}" type="slidenum">
              <a:rPr lang="es-CO" smtClean="0"/>
              <a:t>‹Nº›</a:t>
            </a:fld>
            <a:endParaRPr lang="es-CO"/>
          </a:p>
        </p:txBody>
      </p:sp>
    </p:spTree>
    <p:extLst>
      <p:ext uri="{BB962C8B-B14F-4D97-AF65-F5344CB8AC3E}">
        <p14:creationId xmlns:p14="http://schemas.microsoft.com/office/powerpoint/2010/main" val="2317846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4FAEF4-BB96-8A2F-0A71-146437D8E53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9467A62C-4033-0661-384B-1F633669625B}"/>
              </a:ext>
            </a:extLst>
          </p:cNvPr>
          <p:cNvSpPr>
            <a:spLocks noGrp="1"/>
          </p:cNvSpPr>
          <p:nvPr>
            <p:ph type="dt" sz="half" idx="10"/>
          </p:nvPr>
        </p:nvSpPr>
        <p:spPr/>
        <p:txBody>
          <a:bodyPr/>
          <a:lstStyle/>
          <a:p>
            <a:fld id="{D32AA02F-BDDA-4EF3-A8F4-2AA951BFA3C1}" type="datetimeFigureOut">
              <a:rPr lang="es-CO" smtClean="0"/>
              <a:t>23/04/2026</a:t>
            </a:fld>
            <a:endParaRPr lang="es-CO"/>
          </a:p>
        </p:txBody>
      </p:sp>
      <p:sp>
        <p:nvSpPr>
          <p:cNvPr id="4" name="Marcador de pie de página 3">
            <a:extLst>
              <a:ext uri="{FF2B5EF4-FFF2-40B4-BE49-F238E27FC236}">
                <a16:creationId xmlns:a16="http://schemas.microsoft.com/office/drawing/2014/main" id="{31915621-D749-AEEF-3F13-17E1B8C1D3DC}"/>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7BEB230-B595-A1D8-BF72-DC7CDDBABA84}"/>
              </a:ext>
            </a:extLst>
          </p:cNvPr>
          <p:cNvSpPr>
            <a:spLocks noGrp="1"/>
          </p:cNvSpPr>
          <p:nvPr>
            <p:ph type="sldNum" sz="quarter" idx="12"/>
          </p:nvPr>
        </p:nvSpPr>
        <p:spPr/>
        <p:txBody>
          <a:bodyPr/>
          <a:lstStyle/>
          <a:p>
            <a:fld id="{6D83F698-6B2A-4A5B-98F5-F2F9E5B2F1B5}" type="slidenum">
              <a:rPr lang="es-CO" smtClean="0"/>
              <a:t>‹Nº›</a:t>
            </a:fld>
            <a:endParaRPr lang="es-CO"/>
          </a:p>
        </p:txBody>
      </p:sp>
    </p:spTree>
    <p:extLst>
      <p:ext uri="{BB962C8B-B14F-4D97-AF65-F5344CB8AC3E}">
        <p14:creationId xmlns:p14="http://schemas.microsoft.com/office/powerpoint/2010/main" val="950180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2DBF320-C2DB-573D-EDA7-75D0A7FC93D5}"/>
              </a:ext>
            </a:extLst>
          </p:cNvPr>
          <p:cNvSpPr>
            <a:spLocks noGrp="1"/>
          </p:cNvSpPr>
          <p:nvPr>
            <p:ph type="dt" sz="half" idx="10"/>
          </p:nvPr>
        </p:nvSpPr>
        <p:spPr/>
        <p:txBody>
          <a:bodyPr/>
          <a:lstStyle/>
          <a:p>
            <a:fld id="{D32AA02F-BDDA-4EF3-A8F4-2AA951BFA3C1}" type="datetimeFigureOut">
              <a:rPr lang="es-CO" smtClean="0"/>
              <a:t>23/04/2026</a:t>
            </a:fld>
            <a:endParaRPr lang="es-CO"/>
          </a:p>
        </p:txBody>
      </p:sp>
      <p:sp>
        <p:nvSpPr>
          <p:cNvPr id="3" name="Marcador de pie de página 2">
            <a:extLst>
              <a:ext uri="{FF2B5EF4-FFF2-40B4-BE49-F238E27FC236}">
                <a16:creationId xmlns:a16="http://schemas.microsoft.com/office/drawing/2014/main" id="{9C8CAE08-1414-D6C2-DD5B-4962AC88220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9922242-836C-71DA-6DD5-46865DC6D8E7}"/>
              </a:ext>
            </a:extLst>
          </p:cNvPr>
          <p:cNvSpPr>
            <a:spLocks noGrp="1"/>
          </p:cNvSpPr>
          <p:nvPr>
            <p:ph type="sldNum" sz="quarter" idx="12"/>
          </p:nvPr>
        </p:nvSpPr>
        <p:spPr/>
        <p:txBody>
          <a:bodyPr/>
          <a:lstStyle/>
          <a:p>
            <a:fld id="{6D83F698-6B2A-4A5B-98F5-F2F9E5B2F1B5}" type="slidenum">
              <a:rPr lang="es-CO" smtClean="0"/>
              <a:t>‹Nº›</a:t>
            </a:fld>
            <a:endParaRPr lang="es-CO"/>
          </a:p>
        </p:txBody>
      </p:sp>
    </p:spTree>
    <p:extLst>
      <p:ext uri="{BB962C8B-B14F-4D97-AF65-F5344CB8AC3E}">
        <p14:creationId xmlns:p14="http://schemas.microsoft.com/office/powerpoint/2010/main" val="1693942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8ACD61-3EAC-9C4A-8245-963416F146D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F208892-804C-6F66-31A3-F6F38E7A09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BEE0C0D3-2F5E-A4AF-C264-F478D48F24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EFB7B84-3488-E4AF-2ED2-3D4F6F4730C0}"/>
              </a:ext>
            </a:extLst>
          </p:cNvPr>
          <p:cNvSpPr>
            <a:spLocks noGrp="1"/>
          </p:cNvSpPr>
          <p:nvPr>
            <p:ph type="dt" sz="half" idx="10"/>
          </p:nvPr>
        </p:nvSpPr>
        <p:spPr/>
        <p:txBody>
          <a:bodyPr/>
          <a:lstStyle/>
          <a:p>
            <a:fld id="{D32AA02F-BDDA-4EF3-A8F4-2AA951BFA3C1}" type="datetimeFigureOut">
              <a:rPr lang="es-CO" smtClean="0"/>
              <a:t>23/04/2026</a:t>
            </a:fld>
            <a:endParaRPr lang="es-CO"/>
          </a:p>
        </p:txBody>
      </p:sp>
      <p:sp>
        <p:nvSpPr>
          <p:cNvPr id="6" name="Marcador de pie de página 5">
            <a:extLst>
              <a:ext uri="{FF2B5EF4-FFF2-40B4-BE49-F238E27FC236}">
                <a16:creationId xmlns:a16="http://schemas.microsoft.com/office/drawing/2014/main" id="{8133FFAE-09C1-63AE-4257-913B280EFA3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CC57B83-BAAE-49E8-B0CC-79537E20453C}"/>
              </a:ext>
            </a:extLst>
          </p:cNvPr>
          <p:cNvSpPr>
            <a:spLocks noGrp="1"/>
          </p:cNvSpPr>
          <p:nvPr>
            <p:ph type="sldNum" sz="quarter" idx="12"/>
          </p:nvPr>
        </p:nvSpPr>
        <p:spPr/>
        <p:txBody>
          <a:bodyPr/>
          <a:lstStyle/>
          <a:p>
            <a:fld id="{6D83F698-6B2A-4A5B-98F5-F2F9E5B2F1B5}" type="slidenum">
              <a:rPr lang="es-CO" smtClean="0"/>
              <a:t>‹Nº›</a:t>
            </a:fld>
            <a:endParaRPr lang="es-CO"/>
          </a:p>
        </p:txBody>
      </p:sp>
    </p:spTree>
    <p:extLst>
      <p:ext uri="{BB962C8B-B14F-4D97-AF65-F5344CB8AC3E}">
        <p14:creationId xmlns:p14="http://schemas.microsoft.com/office/powerpoint/2010/main" val="3618390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FBFD25-63CB-7EA5-15FA-C31C6B6E9E2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07F873BA-012F-AD43-A325-366B5179FC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8463290-A9D3-62E9-188F-30626EA684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B04827B-8AEC-CF05-8D87-F7E01E624C18}"/>
              </a:ext>
            </a:extLst>
          </p:cNvPr>
          <p:cNvSpPr>
            <a:spLocks noGrp="1"/>
          </p:cNvSpPr>
          <p:nvPr>
            <p:ph type="dt" sz="half" idx="10"/>
          </p:nvPr>
        </p:nvSpPr>
        <p:spPr/>
        <p:txBody>
          <a:bodyPr/>
          <a:lstStyle/>
          <a:p>
            <a:fld id="{D32AA02F-BDDA-4EF3-A8F4-2AA951BFA3C1}" type="datetimeFigureOut">
              <a:rPr lang="es-CO" smtClean="0"/>
              <a:t>23/04/2026</a:t>
            </a:fld>
            <a:endParaRPr lang="es-CO"/>
          </a:p>
        </p:txBody>
      </p:sp>
      <p:sp>
        <p:nvSpPr>
          <p:cNvPr id="6" name="Marcador de pie de página 5">
            <a:extLst>
              <a:ext uri="{FF2B5EF4-FFF2-40B4-BE49-F238E27FC236}">
                <a16:creationId xmlns:a16="http://schemas.microsoft.com/office/drawing/2014/main" id="{924BA5F4-DABB-EFF5-A42B-11496DCC209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47C7A86-F73A-F45F-6C8C-0D6884E04FC4}"/>
              </a:ext>
            </a:extLst>
          </p:cNvPr>
          <p:cNvSpPr>
            <a:spLocks noGrp="1"/>
          </p:cNvSpPr>
          <p:nvPr>
            <p:ph type="sldNum" sz="quarter" idx="12"/>
          </p:nvPr>
        </p:nvSpPr>
        <p:spPr/>
        <p:txBody>
          <a:bodyPr/>
          <a:lstStyle/>
          <a:p>
            <a:fld id="{6D83F698-6B2A-4A5B-98F5-F2F9E5B2F1B5}" type="slidenum">
              <a:rPr lang="es-CO" smtClean="0"/>
              <a:t>‹Nº›</a:t>
            </a:fld>
            <a:endParaRPr lang="es-CO"/>
          </a:p>
        </p:txBody>
      </p:sp>
    </p:spTree>
    <p:extLst>
      <p:ext uri="{BB962C8B-B14F-4D97-AF65-F5344CB8AC3E}">
        <p14:creationId xmlns:p14="http://schemas.microsoft.com/office/powerpoint/2010/main" val="4121900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29CE6F-962D-E347-1738-FD1286BBFF0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DB42510-77A1-D6DA-EB23-E143F3AF65B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45C225D-7CC5-FA7B-0DB7-EAC50DEE8D35}"/>
              </a:ext>
            </a:extLst>
          </p:cNvPr>
          <p:cNvSpPr>
            <a:spLocks noGrp="1"/>
          </p:cNvSpPr>
          <p:nvPr>
            <p:ph type="dt" sz="half" idx="10"/>
          </p:nvPr>
        </p:nvSpPr>
        <p:spPr/>
        <p:txBody>
          <a:bodyPr/>
          <a:lstStyle/>
          <a:p>
            <a:fld id="{D32AA02F-BDDA-4EF3-A8F4-2AA951BFA3C1}" type="datetimeFigureOut">
              <a:rPr lang="es-CO" smtClean="0"/>
              <a:t>23/04/2026</a:t>
            </a:fld>
            <a:endParaRPr lang="es-CO"/>
          </a:p>
        </p:txBody>
      </p:sp>
      <p:sp>
        <p:nvSpPr>
          <p:cNvPr id="5" name="Marcador de pie de página 4">
            <a:extLst>
              <a:ext uri="{FF2B5EF4-FFF2-40B4-BE49-F238E27FC236}">
                <a16:creationId xmlns:a16="http://schemas.microsoft.com/office/drawing/2014/main" id="{20DAC05B-79FA-7D3A-7AE9-14EC67A7075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B8EA705-2563-FB12-EB55-8E9E0C6E8228}"/>
              </a:ext>
            </a:extLst>
          </p:cNvPr>
          <p:cNvSpPr>
            <a:spLocks noGrp="1"/>
          </p:cNvSpPr>
          <p:nvPr>
            <p:ph type="sldNum" sz="quarter" idx="12"/>
          </p:nvPr>
        </p:nvSpPr>
        <p:spPr/>
        <p:txBody>
          <a:bodyPr/>
          <a:lstStyle/>
          <a:p>
            <a:fld id="{6D83F698-6B2A-4A5B-98F5-F2F9E5B2F1B5}" type="slidenum">
              <a:rPr lang="es-CO" smtClean="0"/>
              <a:t>‹Nº›</a:t>
            </a:fld>
            <a:endParaRPr lang="es-CO"/>
          </a:p>
        </p:txBody>
      </p:sp>
    </p:spTree>
    <p:extLst>
      <p:ext uri="{BB962C8B-B14F-4D97-AF65-F5344CB8AC3E}">
        <p14:creationId xmlns:p14="http://schemas.microsoft.com/office/powerpoint/2010/main" val="2636828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163915F-6EC3-5D99-E07B-DDD613FD002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C40C685-35EA-795D-078C-3F32E350181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61211F8-3527-0C29-0ED4-C2C55001104D}"/>
              </a:ext>
            </a:extLst>
          </p:cNvPr>
          <p:cNvSpPr>
            <a:spLocks noGrp="1"/>
          </p:cNvSpPr>
          <p:nvPr>
            <p:ph type="dt" sz="half" idx="10"/>
          </p:nvPr>
        </p:nvSpPr>
        <p:spPr/>
        <p:txBody>
          <a:bodyPr/>
          <a:lstStyle/>
          <a:p>
            <a:fld id="{D32AA02F-BDDA-4EF3-A8F4-2AA951BFA3C1}" type="datetimeFigureOut">
              <a:rPr lang="es-CO" smtClean="0"/>
              <a:t>23/04/2026</a:t>
            </a:fld>
            <a:endParaRPr lang="es-CO"/>
          </a:p>
        </p:txBody>
      </p:sp>
      <p:sp>
        <p:nvSpPr>
          <p:cNvPr id="5" name="Marcador de pie de página 4">
            <a:extLst>
              <a:ext uri="{FF2B5EF4-FFF2-40B4-BE49-F238E27FC236}">
                <a16:creationId xmlns:a16="http://schemas.microsoft.com/office/drawing/2014/main" id="{1CA7CF74-2575-E628-A946-4F043E2DA40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A57AE80-049E-B058-239B-8841B77F57D9}"/>
              </a:ext>
            </a:extLst>
          </p:cNvPr>
          <p:cNvSpPr>
            <a:spLocks noGrp="1"/>
          </p:cNvSpPr>
          <p:nvPr>
            <p:ph type="sldNum" sz="quarter" idx="12"/>
          </p:nvPr>
        </p:nvSpPr>
        <p:spPr/>
        <p:txBody>
          <a:bodyPr/>
          <a:lstStyle/>
          <a:p>
            <a:fld id="{6D83F698-6B2A-4A5B-98F5-F2F9E5B2F1B5}" type="slidenum">
              <a:rPr lang="es-CO" smtClean="0"/>
              <a:t>‹Nº›</a:t>
            </a:fld>
            <a:endParaRPr lang="es-CO"/>
          </a:p>
        </p:txBody>
      </p:sp>
    </p:spTree>
    <p:extLst>
      <p:ext uri="{BB962C8B-B14F-4D97-AF65-F5344CB8AC3E}">
        <p14:creationId xmlns:p14="http://schemas.microsoft.com/office/powerpoint/2010/main" val="3497848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755CA69-4119-2FA7-0E63-5F1E940F0A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3177D27-CEC1-F427-5855-8CBE3BA37F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9BC5C7-8696-DE0D-65BC-04998CBDDE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2AA02F-BDDA-4EF3-A8F4-2AA951BFA3C1}" type="datetimeFigureOut">
              <a:rPr lang="es-CO" smtClean="0"/>
              <a:t>23/04/2026</a:t>
            </a:fld>
            <a:endParaRPr lang="es-CO"/>
          </a:p>
        </p:txBody>
      </p:sp>
      <p:sp>
        <p:nvSpPr>
          <p:cNvPr id="5" name="Marcador de pie de página 4">
            <a:extLst>
              <a:ext uri="{FF2B5EF4-FFF2-40B4-BE49-F238E27FC236}">
                <a16:creationId xmlns:a16="http://schemas.microsoft.com/office/drawing/2014/main" id="{803FD6C3-FB4A-CE8B-C971-FCDAA36C8C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4F0C2BFA-2C01-CF94-3EA2-D564D16829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83F698-6B2A-4A5B-98F5-F2F9E5B2F1B5}" type="slidenum">
              <a:rPr lang="es-CO" smtClean="0"/>
              <a:t>‹Nº›</a:t>
            </a:fld>
            <a:endParaRPr lang="es-CO"/>
          </a:p>
        </p:txBody>
      </p:sp>
    </p:spTree>
    <p:extLst>
      <p:ext uri="{BB962C8B-B14F-4D97-AF65-F5344CB8AC3E}">
        <p14:creationId xmlns:p14="http://schemas.microsoft.com/office/powerpoint/2010/main" val="2362888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4" Type="http://schemas.openxmlformats.org/officeDocument/2006/relationships/image" Target="../media/image2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9A8986D8-7CC9-AAA0-B115-4D4362FE6CCD}"/>
              </a:ext>
            </a:extLst>
          </p:cNvPr>
          <p:cNvPicPr>
            <a:picLocks noChangeAspect="1"/>
          </p:cNvPicPr>
          <p:nvPr/>
        </p:nvPicPr>
        <p:blipFill>
          <a:blip r:embed="rId2"/>
          <a:stretch>
            <a:fillRect/>
          </a:stretch>
        </p:blipFill>
        <p:spPr>
          <a:xfrm>
            <a:off x="0" y="1"/>
            <a:ext cx="4416725" cy="6858000"/>
          </a:xfrm>
          <a:prstGeom prst="rect">
            <a:avLst/>
          </a:prstGeom>
        </p:spPr>
      </p:pic>
      <p:sp>
        <p:nvSpPr>
          <p:cNvPr id="5" name="Text 0">
            <a:extLst>
              <a:ext uri="{FF2B5EF4-FFF2-40B4-BE49-F238E27FC236}">
                <a16:creationId xmlns:a16="http://schemas.microsoft.com/office/drawing/2014/main" id="{CDE5256D-CD98-38A8-7A90-69AF5FD43D24}"/>
              </a:ext>
            </a:extLst>
          </p:cNvPr>
          <p:cNvSpPr/>
          <p:nvPr/>
        </p:nvSpPr>
        <p:spPr>
          <a:xfrm>
            <a:off x="5007006" y="1279582"/>
            <a:ext cx="6858763" cy="1417558"/>
          </a:xfrm>
          <a:prstGeom prst="rect">
            <a:avLst/>
          </a:prstGeom>
          <a:noFill/>
          <a:ln/>
        </p:spPr>
        <p:txBody>
          <a:bodyPr wrap="square" lIns="0" tIns="0" rIns="0" bIns="0" rtlCol="0" anchor="t"/>
          <a:lstStyle/>
          <a:p>
            <a:pPr marL="0" indent="0" algn="l">
              <a:lnSpc>
                <a:spcPts val="5550"/>
              </a:lnSpc>
              <a:buNone/>
            </a:pPr>
            <a:r>
              <a:rPr lang="en-US" sz="4450" dirty="0">
                <a:latin typeface="Instrument Sans Medium" pitchFamily="34" charset="0"/>
                <a:ea typeface="Instrument Sans Medium" pitchFamily="34" charset="-122"/>
                <a:cs typeface="Instrument Sans Medium" pitchFamily="34" charset="-120"/>
              </a:rPr>
              <a:t>Ejercicio de Simulación de Crisis</a:t>
            </a:r>
            <a:endParaRPr lang="en-US" sz="4450" dirty="0"/>
          </a:p>
        </p:txBody>
      </p:sp>
      <p:sp>
        <p:nvSpPr>
          <p:cNvPr id="7" name="Text 1">
            <a:extLst>
              <a:ext uri="{FF2B5EF4-FFF2-40B4-BE49-F238E27FC236}">
                <a16:creationId xmlns:a16="http://schemas.microsoft.com/office/drawing/2014/main" id="{77476FED-5A8C-23FD-0C11-9F4B360C41E5}"/>
              </a:ext>
            </a:extLst>
          </p:cNvPr>
          <p:cNvSpPr/>
          <p:nvPr/>
        </p:nvSpPr>
        <p:spPr>
          <a:xfrm>
            <a:off x="4815375" y="2868625"/>
            <a:ext cx="7231624" cy="725805"/>
          </a:xfrm>
          <a:prstGeom prst="rect">
            <a:avLst/>
          </a:prstGeom>
          <a:noFill/>
          <a:ln/>
        </p:spPr>
        <p:txBody>
          <a:bodyPr wrap="square" lIns="0" tIns="0" rIns="0" bIns="0" rtlCol="0" anchor="t"/>
          <a:lstStyle/>
          <a:p>
            <a:pPr marL="0" indent="0" algn="l">
              <a:lnSpc>
                <a:spcPts val="2850"/>
              </a:lnSpc>
              <a:buNone/>
            </a:pPr>
            <a:r>
              <a:rPr lang="en-US" sz="1750" b="1" dirty="0">
                <a:solidFill>
                  <a:srgbClr val="BFBFBF"/>
                </a:solidFill>
                <a:latin typeface="Open Sans" pitchFamily="34" charset="0"/>
                <a:ea typeface="Open Sans" pitchFamily="34" charset="-122"/>
                <a:cs typeface="Open Sans" pitchFamily="34" charset="-120"/>
              </a:rPr>
              <a:t>Table Top Exercise (TTX)</a:t>
            </a:r>
            <a:r>
              <a:rPr lang="en-US" sz="1750" dirty="0">
                <a:solidFill>
                  <a:srgbClr val="BFBFBF"/>
                </a:solidFill>
                <a:latin typeface="Open Sans" pitchFamily="34" charset="0"/>
                <a:ea typeface="Open Sans" pitchFamily="34" charset="-122"/>
                <a:cs typeface="Open Sans" pitchFamily="34" charset="-120"/>
              </a:rPr>
              <a:t> · Ransomware · Spear Phishing · Blind Eagle APT</a:t>
            </a:r>
            <a:endParaRPr lang="en-US" sz="1750" dirty="0"/>
          </a:p>
        </p:txBody>
      </p:sp>
      <p:sp>
        <p:nvSpPr>
          <p:cNvPr id="8" name="Text 2">
            <a:extLst>
              <a:ext uri="{FF2B5EF4-FFF2-40B4-BE49-F238E27FC236}">
                <a16:creationId xmlns:a16="http://schemas.microsoft.com/office/drawing/2014/main" id="{AAE67891-DFEE-3A95-9FE9-4C59EDEEB043}"/>
              </a:ext>
            </a:extLst>
          </p:cNvPr>
          <p:cNvSpPr/>
          <p:nvPr/>
        </p:nvSpPr>
        <p:spPr>
          <a:xfrm>
            <a:off x="4815375" y="3765915"/>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BFBFBF"/>
                </a:solidFill>
                <a:latin typeface="Open Sans" pitchFamily="34" charset="0"/>
                <a:ea typeface="Open Sans" pitchFamily="34" charset="-122"/>
                <a:cs typeface="Open Sans" pitchFamily="34" charset="-120"/>
              </a:rPr>
              <a:t>Preparado para </a:t>
            </a:r>
            <a:r>
              <a:rPr lang="en-US" sz="1750" b="1" dirty="0">
                <a:solidFill>
                  <a:srgbClr val="BFBFBF"/>
                </a:solidFill>
                <a:latin typeface="Open Sans" pitchFamily="34" charset="0"/>
                <a:ea typeface="Open Sans" pitchFamily="34" charset="-122"/>
                <a:cs typeface="Open Sans" pitchFamily="34" charset="-120"/>
              </a:rPr>
              <a:t>Seguros Alfa</a:t>
            </a:r>
            <a:r>
              <a:rPr lang="en-US" sz="1750" dirty="0">
                <a:solidFill>
                  <a:srgbClr val="BFBFBF"/>
                </a:solidFill>
                <a:latin typeface="Open Sans" pitchFamily="34" charset="0"/>
                <a:ea typeface="Open Sans" pitchFamily="34" charset="-122"/>
                <a:cs typeface="Open Sans" pitchFamily="34" charset="-120"/>
              </a:rPr>
              <a:t> — Gerencia de Riesgos y Tecnología · Colombia 2026</a:t>
            </a:r>
            <a:endParaRPr lang="en-US" sz="1750" dirty="0"/>
          </a:p>
        </p:txBody>
      </p:sp>
    </p:spTree>
    <p:extLst>
      <p:ext uri="{BB962C8B-B14F-4D97-AF65-F5344CB8AC3E}">
        <p14:creationId xmlns:p14="http://schemas.microsoft.com/office/powerpoint/2010/main" val="81751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6CC9B58-1936-365E-624C-96C4BB623B76}"/>
              </a:ext>
            </a:extLst>
          </p:cNvPr>
          <p:cNvSpPr txBox="1"/>
          <p:nvPr/>
        </p:nvSpPr>
        <p:spPr>
          <a:xfrm>
            <a:off x="200025" y="1457325"/>
            <a:ext cx="11810999" cy="3416320"/>
          </a:xfrm>
          <a:prstGeom prst="rect">
            <a:avLst/>
          </a:prstGeom>
          <a:noFill/>
        </p:spPr>
        <p:txBody>
          <a:bodyPr wrap="square">
            <a:spAutoFit/>
          </a:bodyPr>
          <a:lstStyle/>
          <a:p>
            <a:r>
              <a:rPr lang="es-CO" dirty="0"/>
              <a:t>El </a:t>
            </a:r>
            <a:r>
              <a:rPr lang="es-CO" dirty="0" err="1"/>
              <a:t>Spear</a:t>
            </a:r>
            <a:r>
              <a:rPr lang="es-CO" dirty="0"/>
              <a:t> Phishing es una forma de ataque cibernético más precisa que el phishing masivo o común, ya que emplea inteligencia previa para hacerse pasar por identidades de confianza como directivos, proveedores o entes reguladores previamente identificados y estudiados, con el objetivo de engañar a empleados específicos de una </a:t>
            </a:r>
            <a:r>
              <a:rPr lang="es-CO" dirty="0" err="1"/>
              <a:t>organización.Este</a:t>
            </a:r>
            <a:r>
              <a:rPr lang="es-CO" dirty="0"/>
              <a:t> ataque no tiene como único objetivo infectar un ordenador, sino también comprometer procedimientos esenciales como la autorización de pagos, el acceso a bases de datos de asegurados, la modificación de documentación y obtención de información de más valor para realizar un mayor escalamiento de su ataque. Se caracteriza por una personalización extrema en los mensajes, como es usada por el grupo el grupo </a:t>
            </a:r>
            <a:r>
              <a:rPr lang="es-CO" dirty="0" err="1"/>
              <a:t>Blind</a:t>
            </a:r>
            <a:r>
              <a:rPr lang="es-CO" dirty="0"/>
              <a:t> Eagle, el cual presenta una actividad continua en Colombia. Diseñan mensajes que imitan perfectamente comunicaciones de la DIAN o la Superintendencia Financiera, utilizando un lenguaje legal y corporativo impecable que elude las sospechas habituales. No son envíos al azar; son ataques dirigidos a perfiles con privilegios elevados y acceso a procesos críticos, como analistas de tesorería, gerentes de riesgos o directores de cumplimiento. El objetivo final es vulnerar la cadena de mando y los activos más valiosos de la organización.</a:t>
            </a:r>
          </a:p>
        </p:txBody>
      </p:sp>
      <p:sp>
        <p:nvSpPr>
          <p:cNvPr id="4" name="Text 0">
            <a:extLst>
              <a:ext uri="{FF2B5EF4-FFF2-40B4-BE49-F238E27FC236}">
                <a16:creationId xmlns:a16="http://schemas.microsoft.com/office/drawing/2014/main" id="{D2BB2735-8CF6-4081-8AEE-B466C6877B90}"/>
              </a:ext>
            </a:extLst>
          </p:cNvPr>
          <p:cNvSpPr/>
          <p:nvPr/>
        </p:nvSpPr>
        <p:spPr>
          <a:xfrm>
            <a:off x="706993" y="558284"/>
            <a:ext cx="7023854" cy="631269"/>
          </a:xfrm>
          <a:prstGeom prst="rect">
            <a:avLst/>
          </a:prstGeom>
          <a:noFill/>
          <a:ln/>
        </p:spPr>
        <p:txBody>
          <a:bodyPr wrap="none" lIns="0" tIns="0" rIns="0" bIns="0" rtlCol="0" anchor="t"/>
          <a:lstStyle/>
          <a:p>
            <a:pPr marL="0" indent="0" algn="l">
              <a:lnSpc>
                <a:spcPts val="4950"/>
              </a:lnSpc>
              <a:buNone/>
            </a:pPr>
            <a:r>
              <a:rPr lang="en-US" sz="3950" dirty="0">
                <a:latin typeface="Instrument Sans Medium" pitchFamily="34" charset="0"/>
              </a:rPr>
              <a:t>Que es  Spear Phising ?</a:t>
            </a:r>
            <a:br>
              <a:rPr lang="en-US" sz="3950" dirty="0">
                <a:latin typeface="Instrument Sans Medium" pitchFamily="34" charset="0"/>
              </a:rPr>
            </a:br>
            <a:endParaRPr lang="en-US" sz="3950" dirty="0"/>
          </a:p>
        </p:txBody>
      </p:sp>
    </p:spTree>
    <p:extLst>
      <p:ext uri="{BB962C8B-B14F-4D97-AF65-F5344CB8AC3E}">
        <p14:creationId xmlns:p14="http://schemas.microsoft.com/office/powerpoint/2010/main" val="3755465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B4E9D49-9541-B840-9156-C74D620840C8}"/>
              </a:ext>
            </a:extLst>
          </p:cNvPr>
          <p:cNvSpPr/>
          <p:nvPr/>
        </p:nvSpPr>
        <p:spPr>
          <a:xfrm>
            <a:off x="169829" y="84999"/>
            <a:ext cx="7829312" cy="1173956"/>
          </a:xfrm>
          <a:prstGeom prst="rect">
            <a:avLst/>
          </a:prstGeom>
          <a:noFill/>
          <a:ln/>
        </p:spPr>
        <p:txBody>
          <a:bodyPr wrap="square" lIns="0" tIns="0" rIns="0" bIns="0" rtlCol="0" anchor="t"/>
          <a:lstStyle/>
          <a:p>
            <a:pPr marL="0" indent="0" algn="l">
              <a:lnSpc>
                <a:spcPts val="4600"/>
              </a:lnSpc>
              <a:buNone/>
            </a:pPr>
            <a:r>
              <a:rPr lang="en-US" sz="3200" dirty="0">
                <a:latin typeface="Instrument Sans Medium" pitchFamily="34" charset="0"/>
                <a:ea typeface="Instrument Sans Medium" pitchFamily="34" charset="-122"/>
                <a:cs typeface="Instrument Sans Medium" pitchFamily="34" charset="-120"/>
              </a:rPr>
              <a:t>¿Por qué Seguros Alfa necesita este ejercicio?</a:t>
            </a:r>
            <a:endParaRPr lang="en-US" sz="3200" dirty="0"/>
          </a:p>
        </p:txBody>
      </p:sp>
      <p:pic>
        <p:nvPicPr>
          <p:cNvPr id="3" name="Image 0" descr="preencoded.png">
            <a:extLst>
              <a:ext uri="{FF2B5EF4-FFF2-40B4-BE49-F238E27FC236}">
                <a16:creationId xmlns:a16="http://schemas.microsoft.com/office/drawing/2014/main" id="{6EA6B728-C5BF-8D0A-5FF4-ECCB23021ABF}"/>
              </a:ext>
            </a:extLst>
          </p:cNvPr>
          <p:cNvPicPr>
            <a:picLocks noChangeAspect="1"/>
          </p:cNvPicPr>
          <p:nvPr/>
        </p:nvPicPr>
        <p:blipFill>
          <a:blip r:embed="rId2"/>
          <a:stretch>
            <a:fillRect/>
          </a:stretch>
        </p:blipFill>
        <p:spPr>
          <a:xfrm>
            <a:off x="7469079" y="0"/>
            <a:ext cx="4722921" cy="6858000"/>
          </a:xfrm>
          <a:prstGeom prst="rect">
            <a:avLst/>
          </a:prstGeom>
        </p:spPr>
      </p:pic>
      <p:sp>
        <p:nvSpPr>
          <p:cNvPr id="4" name="Text 1">
            <a:extLst>
              <a:ext uri="{FF2B5EF4-FFF2-40B4-BE49-F238E27FC236}">
                <a16:creationId xmlns:a16="http://schemas.microsoft.com/office/drawing/2014/main" id="{4A49B84D-3687-1DF8-CE33-3651260F1685}"/>
              </a:ext>
            </a:extLst>
          </p:cNvPr>
          <p:cNvSpPr/>
          <p:nvPr/>
        </p:nvSpPr>
        <p:spPr>
          <a:xfrm>
            <a:off x="109447" y="1629251"/>
            <a:ext cx="3685580" cy="2197418"/>
          </a:xfrm>
          <a:prstGeom prst="rect">
            <a:avLst/>
          </a:prstGeom>
          <a:noFill/>
          <a:ln/>
        </p:spPr>
        <p:txBody>
          <a:bodyPr wrap="square" lIns="0" tIns="0" rIns="0" bIns="0" rtlCol="0" anchor="t"/>
          <a:lstStyle/>
          <a:p>
            <a:pPr marL="0" indent="0" algn="l">
              <a:lnSpc>
                <a:spcPts val="2150"/>
              </a:lnSpc>
              <a:buNone/>
            </a:pPr>
            <a:r>
              <a:rPr lang="en-US" sz="1450" dirty="0">
                <a:latin typeface="Open Sans" pitchFamily="34" charset="0"/>
                <a:ea typeface="Open Sans" pitchFamily="34" charset="-122"/>
                <a:cs typeface="Open Sans" pitchFamily="34" charset="-120"/>
              </a:rPr>
              <a:t>El grupo </a:t>
            </a:r>
            <a:r>
              <a:rPr lang="en-US" sz="1450" b="1" dirty="0">
                <a:latin typeface="Open Sans" pitchFamily="34" charset="0"/>
                <a:ea typeface="Open Sans" pitchFamily="34" charset="-122"/>
                <a:cs typeface="Open Sans" pitchFamily="34" charset="-120"/>
              </a:rPr>
              <a:t>Blind Eagle (APT-C-36)</a:t>
            </a:r>
            <a:r>
              <a:rPr lang="en-US" sz="1450" dirty="0">
                <a:latin typeface="Open Sans" pitchFamily="34" charset="0"/>
                <a:ea typeface="Open Sans" pitchFamily="34" charset="-122"/>
                <a:cs typeface="Open Sans" pitchFamily="34" charset="-120"/>
              </a:rPr>
              <a:t> opera activamente en Colombia, suplantando entidades como la </a:t>
            </a:r>
            <a:r>
              <a:rPr lang="en-US" sz="1450" b="1" dirty="0">
                <a:latin typeface="Open Sans" pitchFamily="34" charset="0"/>
                <a:ea typeface="Open Sans" pitchFamily="34" charset="-122"/>
                <a:cs typeface="Open Sans" pitchFamily="34" charset="-120"/>
              </a:rPr>
              <a:t>DIAN</a:t>
            </a:r>
            <a:r>
              <a:rPr lang="en-US" sz="1450" dirty="0">
                <a:latin typeface="Open Sans" pitchFamily="34" charset="0"/>
                <a:ea typeface="Open Sans" pitchFamily="34" charset="-122"/>
                <a:cs typeface="Open Sans" pitchFamily="34" charset="-120"/>
              </a:rPr>
              <a:t> y la </a:t>
            </a:r>
            <a:r>
              <a:rPr lang="en-US" sz="1450" b="1" dirty="0">
                <a:latin typeface="Open Sans" pitchFamily="34" charset="0"/>
                <a:ea typeface="Open Sans" pitchFamily="34" charset="-122"/>
                <a:cs typeface="Open Sans" pitchFamily="34" charset="-120"/>
              </a:rPr>
              <a:t>Superintendencia Financiera</a:t>
            </a:r>
            <a:r>
              <a:rPr lang="en-US" sz="1450" dirty="0">
                <a:latin typeface="Open Sans" pitchFamily="34" charset="0"/>
                <a:ea typeface="Open Sans" pitchFamily="34" charset="-122"/>
                <a:cs typeface="Open Sans" pitchFamily="34" charset="-120"/>
              </a:rPr>
              <a:t> para comprometer perfiles con acceso privilegiado: gerentes de riesgo, directores de cumplimiento y analistas de tesorería.</a:t>
            </a:r>
            <a:endParaRPr lang="en-US" sz="1450" dirty="0"/>
          </a:p>
        </p:txBody>
      </p:sp>
      <p:sp>
        <p:nvSpPr>
          <p:cNvPr id="5" name="Shape 2">
            <a:extLst>
              <a:ext uri="{FF2B5EF4-FFF2-40B4-BE49-F238E27FC236}">
                <a16:creationId xmlns:a16="http://schemas.microsoft.com/office/drawing/2014/main" id="{BD5E2C56-4E46-DF42-3D23-554DD486D4CC}"/>
              </a:ext>
            </a:extLst>
          </p:cNvPr>
          <p:cNvSpPr/>
          <p:nvPr/>
        </p:nvSpPr>
        <p:spPr>
          <a:xfrm>
            <a:off x="3712808" y="1004360"/>
            <a:ext cx="3685580" cy="1694259"/>
          </a:xfrm>
          <a:prstGeom prst="roundRect">
            <a:avLst>
              <a:gd name="adj" fmla="val 6476"/>
            </a:avLst>
          </a:prstGeom>
          <a:solidFill>
            <a:srgbClr val="1F1F1F"/>
          </a:solidFill>
          <a:ln w="22860">
            <a:solidFill>
              <a:srgbClr val="575757"/>
            </a:solidFill>
            <a:prstDash val="solid"/>
          </a:ln>
        </p:spPr>
      </p:sp>
      <p:sp>
        <p:nvSpPr>
          <p:cNvPr id="6" name="Shape 6">
            <a:extLst>
              <a:ext uri="{FF2B5EF4-FFF2-40B4-BE49-F238E27FC236}">
                <a16:creationId xmlns:a16="http://schemas.microsoft.com/office/drawing/2014/main" id="{B8670DD5-3631-78DC-B9E4-4030F93AF487}"/>
              </a:ext>
            </a:extLst>
          </p:cNvPr>
          <p:cNvSpPr/>
          <p:nvPr/>
        </p:nvSpPr>
        <p:spPr>
          <a:xfrm>
            <a:off x="3712808" y="2827478"/>
            <a:ext cx="3685580" cy="1694259"/>
          </a:xfrm>
          <a:prstGeom prst="roundRect">
            <a:avLst>
              <a:gd name="adj" fmla="val 6476"/>
            </a:avLst>
          </a:prstGeom>
          <a:solidFill>
            <a:srgbClr val="1F1F1F"/>
          </a:solidFill>
          <a:ln w="22860">
            <a:solidFill>
              <a:srgbClr val="575757"/>
            </a:solidFill>
            <a:prstDash val="solid"/>
          </a:ln>
        </p:spPr>
      </p:sp>
      <p:sp>
        <p:nvSpPr>
          <p:cNvPr id="7" name="Shape 10">
            <a:extLst>
              <a:ext uri="{FF2B5EF4-FFF2-40B4-BE49-F238E27FC236}">
                <a16:creationId xmlns:a16="http://schemas.microsoft.com/office/drawing/2014/main" id="{31CEA331-F633-D4B8-A1D5-9E3D65EC3F31}"/>
              </a:ext>
            </a:extLst>
          </p:cNvPr>
          <p:cNvSpPr/>
          <p:nvPr/>
        </p:nvSpPr>
        <p:spPr>
          <a:xfrm>
            <a:off x="3712808" y="4752968"/>
            <a:ext cx="3685580" cy="1694259"/>
          </a:xfrm>
          <a:prstGeom prst="roundRect">
            <a:avLst>
              <a:gd name="adj" fmla="val 6476"/>
            </a:avLst>
          </a:prstGeom>
          <a:solidFill>
            <a:srgbClr val="1F1F1F"/>
          </a:solidFill>
          <a:ln w="22860">
            <a:solidFill>
              <a:srgbClr val="575757"/>
            </a:solidFill>
            <a:prstDash val="solid"/>
          </a:ln>
        </p:spPr>
      </p:sp>
      <p:sp>
        <p:nvSpPr>
          <p:cNvPr id="8" name="Text 4">
            <a:extLst>
              <a:ext uri="{FF2B5EF4-FFF2-40B4-BE49-F238E27FC236}">
                <a16:creationId xmlns:a16="http://schemas.microsoft.com/office/drawing/2014/main" id="{183B17DF-AFC8-8031-7662-05FDAA25A813}"/>
              </a:ext>
            </a:extLst>
          </p:cNvPr>
          <p:cNvSpPr/>
          <p:nvPr/>
        </p:nvSpPr>
        <p:spPr>
          <a:xfrm>
            <a:off x="4084485" y="1150613"/>
            <a:ext cx="2347912" cy="293489"/>
          </a:xfrm>
          <a:prstGeom prst="rect">
            <a:avLst/>
          </a:prstGeom>
          <a:noFill/>
          <a:ln/>
        </p:spPr>
        <p:txBody>
          <a:bodyPr wrap="none" lIns="0" tIns="0" rIns="0" bIns="0" rtlCol="0" anchor="t"/>
          <a:lstStyle/>
          <a:p>
            <a:pPr marL="0" indent="0" algn="l">
              <a:lnSpc>
                <a:spcPts val="2300"/>
              </a:lnSpc>
              <a:buNone/>
            </a:pPr>
            <a:r>
              <a:rPr lang="en-US" sz="1800" dirty="0">
                <a:solidFill>
                  <a:srgbClr val="BFBFBF"/>
                </a:solidFill>
                <a:latin typeface="Instrument Sans Medium" pitchFamily="34" charset="0"/>
                <a:ea typeface="Instrument Sans Medium" pitchFamily="34" charset="-122"/>
                <a:cs typeface="Instrument Sans Medium" pitchFamily="34" charset="-120"/>
              </a:rPr>
              <a:t>Activos en riesgo</a:t>
            </a:r>
            <a:endParaRPr lang="en-US" sz="1800" dirty="0"/>
          </a:p>
        </p:txBody>
      </p:sp>
      <p:sp>
        <p:nvSpPr>
          <p:cNvPr id="9" name="Text 5">
            <a:extLst>
              <a:ext uri="{FF2B5EF4-FFF2-40B4-BE49-F238E27FC236}">
                <a16:creationId xmlns:a16="http://schemas.microsoft.com/office/drawing/2014/main" id="{B08D575C-C032-FF4F-E32E-E77B6EEC836E}"/>
              </a:ext>
            </a:extLst>
          </p:cNvPr>
          <p:cNvSpPr/>
          <p:nvPr/>
        </p:nvSpPr>
        <p:spPr>
          <a:xfrm>
            <a:off x="4028410" y="1597555"/>
            <a:ext cx="3195757" cy="824032"/>
          </a:xfrm>
          <a:prstGeom prst="rect">
            <a:avLst/>
          </a:prstGeom>
          <a:noFill/>
          <a:ln/>
        </p:spPr>
        <p:txBody>
          <a:bodyPr wrap="square" lIns="0" tIns="0" rIns="0" bIns="0" rtlCol="0" anchor="t"/>
          <a:lstStyle/>
          <a:p>
            <a:pPr marL="0" indent="0" algn="l">
              <a:lnSpc>
                <a:spcPts val="2150"/>
              </a:lnSpc>
              <a:buNone/>
            </a:pPr>
            <a:r>
              <a:rPr lang="en-US" sz="1450" dirty="0">
                <a:solidFill>
                  <a:srgbClr val="BFBFBF"/>
                </a:solidFill>
                <a:latin typeface="Open Sans" pitchFamily="34" charset="0"/>
                <a:ea typeface="Open Sans" pitchFamily="34" charset="-122"/>
                <a:cs typeface="Open Sans" pitchFamily="34" charset="-120"/>
              </a:rPr>
              <a:t>Bases de datos de asegurados, sistemas de siniestros y flujos de pago.</a:t>
            </a:r>
            <a:endParaRPr lang="en-US" sz="1450" dirty="0"/>
          </a:p>
        </p:txBody>
      </p:sp>
      <p:sp>
        <p:nvSpPr>
          <p:cNvPr id="10" name="Text 8">
            <a:extLst>
              <a:ext uri="{FF2B5EF4-FFF2-40B4-BE49-F238E27FC236}">
                <a16:creationId xmlns:a16="http://schemas.microsoft.com/office/drawing/2014/main" id="{75784E19-6D83-06BC-719D-14F3A8199527}"/>
              </a:ext>
            </a:extLst>
          </p:cNvPr>
          <p:cNvSpPr/>
          <p:nvPr/>
        </p:nvSpPr>
        <p:spPr>
          <a:xfrm>
            <a:off x="4028410" y="2965508"/>
            <a:ext cx="2347912" cy="293489"/>
          </a:xfrm>
          <a:prstGeom prst="rect">
            <a:avLst/>
          </a:prstGeom>
          <a:noFill/>
          <a:ln/>
        </p:spPr>
        <p:txBody>
          <a:bodyPr wrap="none" lIns="0" tIns="0" rIns="0" bIns="0" rtlCol="0" anchor="t"/>
          <a:lstStyle/>
          <a:p>
            <a:pPr marL="0" indent="0" algn="l">
              <a:lnSpc>
                <a:spcPts val="2300"/>
              </a:lnSpc>
              <a:buNone/>
            </a:pPr>
            <a:r>
              <a:rPr lang="en-US" sz="1800" dirty="0">
                <a:solidFill>
                  <a:srgbClr val="BFBFBF"/>
                </a:solidFill>
                <a:latin typeface="Instrument Sans Medium" pitchFamily="34" charset="0"/>
                <a:ea typeface="Instrument Sans Medium" pitchFamily="34" charset="-122"/>
                <a:cs typeface="Instrument Sans Medium" pitchFamily="34" charset="-120"/>
              </a:rPr>
              <a:t>Vector silencioso</a:t>
            </a:r>
            <a:endParaRPr lang="en-US" sz="1800" dirty="0"/>
          </a:p>
        </p:txBody>
      </p:sp>
      <p:sp>
        <p:nvSpPr>
          <p:cNvPr id="11" name="Text 9">
            <a:extLst>
              <a:ext uri="{FF2B5EF4-FFF2-40B4-BE49-F238E27FC236}">
                <a16:creationId xmlns:a16="http://schemas.microsoft.com/office/drawing/2014/main" id="{0A612F32-9E25-FD7B-D4B1-2621619A4A68}"/>
              </a:ext>
            </a:extLst>
          </p:cNvPr>
          <p:cNvSpPr/>
          <p:nvPr/>
        </p:nvSpPr>
        <p:spPr>
          <a:xfrm>
            <a:off x="4028409" y="3502144"/>
            <a:ext cx="3195757" cy="824032"/>
          </a:xfrm>
          <a:prstGeom prst="rect">
            <a:avLst/>
          </a:prstGeom>
          <a:noFill/>
          <a:ln/>
        </p:spPr>
        <p:txBody>
          <a:bodyPr wrap="square" lIns="0" tIns="0" rIns="0" bIns="0" rtlCol="0" anchor="t"/>
          <a:lstStyle/>
          <a:p>
            <a:pPr marL="0" indent="0" algn="l">
              <a:lnSpc>
                <a:spcPts val="2150"/>
              </a:lnSpc>
              <a:buNone/>
            </a:pPr>
            <a:r>
              <a:rPr lang="en-US" sz="1450" dirty="0">
                <a:solidFill>
                  <a:srgbClr val="BFBFBF"/>
                </a:solidFill>
                <a:latin typeface="Open Sans" pitchFamily="34" charset="0"/>
                <a:ea typeface="Open Sans" pitchFamily="34" charset="-122"/>
                <a:cs typeface="Open Sans" pitchFamily="34" charset="-120"/>
              </a:rPr>
              <a:t>Un correo falso de la SFC puede comprometer credenciales sin alertas durante semanas.</a:t>
            </a:r>
            <a:endParaRPr lang="en-US" sz="1450" dirty="0"/>
          </a:p>
        </p:txBody>
      </p:sp>
      <p:sp>
        <p:nvSpPr>
          <p:cNvPr id="12" name="Text 12">
            <a:extLst>
              <a:ext uri="{FF2B5EF4-FFF2-40B4-BE49-F238E27FC236}">
                <a16:creationId xmlns:a16="http://schemas.microsoft.com/office/drawing/2014/main" id="{90335323-D0A5-3D90-CE20-3D2CD6502B1A}"/>
              </a:ext>
            </a:extLst>
          </p:cNvPr>
          <p:cNvSpPr/>
          <p:nvPr/>
        </p:nvSpPr>
        <p:spPr>
          <a:xfrm>
            <a:off x="3981605" y="4966956"/>
            <a:ext cx="2347912" cy="293489"/>
          </a:xfrm>
          <a:prstGeom prst="rect">
            <a:avLst/>
          </a:prstGeom>
          <a:noFill/>
          <a:ln/>
        </p:spPr>
        <p:txBody>
          <a:bodyPr wrap="none" lIns="0" tIns="0" rIns="0" bIns="0" rtlCol="0" anchor="t"/>
          <a:lstStyle/>
          <a:p>
            <a:pPr marL="0" indent="0" algn="l">
              <a:lnSpc>
                <a:spcPts val="2300"/>
              </a:lnSpc>
              <a:buNone/>
            </a:pPr>
            <a:r>
              <a:rPr lang="en-US" sz="1800" dirty="0">
                <a:solidFill>
                  <a:srgbClr val="BFBFBF"/>
                </a:solidFill>
                <a:latin typeface="Instrument Sans Medium" pitchFamily="34" charset="0"/>
                <a:ea typeface="Instrument Sans Medium" pitchFamily="34" charset="-122"/>
                <a:cs typeface="Instrument Sans Medium" pitchFamily="34" charset="-120"/>
              </a:rPr>
              <a:t>Impacto financiero</a:t>
            </a:r>
            <a:endParaRPr lang="en-US" sz="1800" dirty="0"/>
          </a:p>
        </p:txBody>
      </p:sp>
      <p:sp>
        <p:nvSpPr>
          <p:cNvPr id="13" name="Text 13">
            <a:extLst>
              <a:ext uri="{FF2B5EF4-FFF2-40B4-BE49-F238E27FC236}">
                <a16:creationId xmlns:a16="http://schemas.microsoft.com/office/drawing/2014/main" id="{2A65F3E7-9EE3-ABF3-D533-F8E68C7960CA}"/>
              </a:ext>
            </a:extLst>
          </p:cNvPr>
          <p:cNvSpPr/>
          <p:nvPr/>
        </p:nvSpPr>
        <p:spPr>
          <a:xfrm>
            <a:off x="3957719" y="5441624"/>
            <a:ext cx="3195757" cy="824032"/>
          </a:xfrm>
          <a:prstGeom prst="rect">
            <a:avLst/>
          </a:prstGeom>
          <a:noFill/>
          <a:ln/>
        </p:spPr>
        <p:txBody>
          <a:bodyPr wrap="square" lIns="0" tIns="0" rIns="0" bIns="0" rtlCol="0" anchor="t"/>
          <a:lstStyle/>
          <a:p>
            <a:pPr marL="0" indent="0" algn="l">
              <a:lnSpc>
                <a:spcPts val="2150"/>
              </a:lnSpc>
              <a:buNone/>
            </a:pPr>
            <a:r>
              <a:rPr lang="en-US" sz="1450" dirty="0">
                <a:solidFill>
                  <a:srgbClr val="BFBFBF"/>
                </a:solidFill>
                <a:latin typeface="Open Sans" pitchFamily="34" charset="0"/>
                <a:ea typeface="Open Sans" pitchFamily="34" charset="-122"/>
                <a:cs typeface="Open Sans" pitchFamily="34" charset="-120"/>
              </a:rPr>
              <a:t>Pérdidas promedio superiores a </a:t>
            </a:r>
            <a:r>
              <a:rPr lang="en-US" sz="1450" b="1" dirty="0">
                <a:solidFill>
                  <a:srgbClr val="BFBFBF"/>
                </a:solidFill>
                <a:latin typeface="Open Sans" pitchFamily="34" charset="0"/>
                <a:ea typeface="Open Sans" pitchFamily="34" charset="-122"/>
                <a:cs typeface="Open Sans" pitchFamily="34" charset="-120"/>
              </a:rPr>
              <a:t>USD 2.8M</a:t>
            </a:r>
            <a:r>
              <a:rPr lang="en-US" sz="1450" dirty="0">
                <a:solidFill>
                  <a:srgbClr val="BFBFBF"/>
                </a:solidFill>
                <a:latin typeface="Open Sans" pitchFamily="34" charset="0"/>
                <a:ea typeface="Open Sans" pitchFamily="34" charset="-122"/>
                <a:cs typeface="Open Sans" pitchFamily="34" charset="-120"/>
              </a:rPr>
              <a:t> por incidente en el sector financiero colombiano.</a:t>
            </a:r>
            <a:endParaRPr lang="en-US" sz="1450" dirty="0"/>
          </a:p>
        </p:txBody>
      </p:sp>
    </p:spTree>
    <p:extLst>
      <p:ext uri="{BB962C8B-B14F-4D97-AF65-F5344CB8AC3E}">
        <p14:creationId xmlns:p14="http://schemas.microsoft.com/office/powerpoint/2010/main" val="3215897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F2E42B0-24BB-DBB8-F5FC-4BC7238D815F}"/>
              </a:ext>
            </a:extLst>
          </p:cNvPr>
          <p:cNvSpPr/>
          <p:nvPr/>
        </p:nvSpPr>
        <p:spPr>
          <a:xfrm>
            <a:off x="374690" y="626150"/>
            <a:ext cx="10998160" cy="4393526"/>
          </a:xfrm>
          <a:prstGeom prst="rect">
            <a:avLst/>
          </a:prstGeom>
          <a:noFill/>
          <a:ln/>
        </p:spPr>
        <p:txBody>
          <a:bodyPr wrap="square" lIns="0" tIns="0" rIns="0" bIns="0" rtlCol="0" anchor="t"/>
          <a:lstStyle/>
          <a:p>
            <a:pPr marL="0" indent="0" algn="ctr">
              <a:lnSpc>
                <a:spcPts val="6000"/>
              </a:lnSpc>
              <a:buNone/>
            </a:pPr>
            <a:r>
              <a:rPr lang="es-MX" sz="6600" b="1" dirty="0"/>
              <a:t>En 2024, los ataques de ransomware en Latinoamérica aumentaron un </a:t>
            </a:r>
            <a:r>
              <a:rPr lang="es-MX" sz="6600" b="1" dirty="0">
                <a:solidFill>
                  <a:srgbClr val="0070C0"/>
                </a:solidFill>
              </a:rPr>
              <a:t>70%</a:t>
            </a:r>
            <a:r>
              <a:rPr lang="es-MX" sz="6600" b="1" dirty="0"/>
              <a:t>, comparado con solo un </a:t>
            </a:r>
            <a:r>
              <a:rPr lang="es-MX" sz="6600" b="1" dirty="0">
                <a:solidFill>
                  <a:srgbClr val="0070C0"/>
                </a:solidFill>
              </a:rPr>
              <a:t>8%</a:t>
            </a:r>
            <a:r>
              <a:rPr lang="es-MX" sz="6600" b="1" dirty="0"/>
              <a:t> en Norteamérica</a:t>
            </a:r>
            <a:endParaRPr lang="en-US" sz="6150" b="1" dirty="0"/>
          </a:p>
        </p:txBody>
      </p:sp>
      <p:sp>
        <p:nvSpPr>
          <p:cNvPr id="4" name="CuadroTexto 3">
            <a:extLst>
              <a:ext uri="{FF2B5EF4-FFF2-40B4-BE49-F238E27FC236}">
                <a16:creationId xmlns:a16="http://schemas.microsoft.com/office/drawing/2014/main" id="{379A84A9-88A8-D54D-79D4-8425962DBF6F}"/>
              </a:ext>
            </a:extLst>
          </p:cNvPr>
          <p:cNvSpPr txBox="1"/>
          <p:nvPr/>
        </p:nvSpPr>
        <p:spPr>
          <a:xfrm>
            <a:off x="885825" y="5867400"/>
            <a:ext cx="10487025" cy="523220"/>
          </a:xfrm>
          <a:prstGeom prst="rect">
            <a:avLst/>
          </a:prstGeom>
          <a:noFill/>
        </p:spPr>
        <p:txBody>
          <a:bodyPr wrap="square" rtlCol="0">
            <a:spAutoFit/>
          </a:bodyPr>
          <a:lstStyle/>
          <a:p>
            <a:r>
              <a:rPr lang="es-MX" sz="1400" dirty="0">
                <a:solidFill>
                  <a:schemeClr val="bg2">
                    <a:lumMod val="75000"/>
                  </a:schemeClr>
                </a:solidFill>
              </a:rPr>
              <a:t>Fuente :  </a:t>
            </a:r>
          </a:p>
          <a:p>
            <a:r>
              <a:rPr lang="es-MX" sz="1400" dirty="0">
                <a:solidFill>
                  <a:schemeClr val="bg2">
                    <a:lumMod val="75000"/>
                  </a:schemeClr>
                </a:solidFill>
              </a:rPr>
              <a:t> https://www.brightdefense.com/resources/ransomware-statistics/</a:t>
            </a:r>
            <a:endParaRPr lang="es-CO" sz="1400" dirty="0">
              <a:solidFill>
                <a:schemeClr val="bg2">
                  <a:lumMod val="75000"/>
                </a:schemeClr>
              </a:solidFill>
            </a:endParaRPr>
          </a:p>
        </p:txBody>
      </p:sp>
    </p:spTree>
    <p:extLst>
      <p:ext uri="{BB962C8B-B14F-4D97-AF65-F5344CB8AC3E}">
        <p14:creationId xmlns:p14="http://schemas.microsoft.com/office/powerpoint/2010/main" val="2023619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10A8D94-9A9C-3C39-7A3A-646E08B66AD2}"/>
              </a:ext>
            </a:extLst>
          </p:cNvPr>
          <p:cNvSpPr/>
          <p:nvPr/>
        </p:nvSpPr>
        <p:spPr>
          <a:xfrm>
            <a:off x="706993" y="558284"/>
            <a:ext cx="7023854" cy="631269"/>
          </a:xfrm>
          <a:prstGeom prst="rect">
            <a:avLst/>
          </a:prstGeom>
          <a:noFill/>
          <a:ln/>
        </p:spPr>
        <p:txBody>
          <a:bodyPr wrap="none" lIns="0" tIns="0" rIns="0" bIns="0" rtlCol="0" anchor="t"/>
          <a:lstStyle/>
          <a:p>
            <a:pPr marL="0" indent="0" algn="l">
              <a:lnSpc>
                <a:spcPts val="4950"/>
              </a:lnSpc>
              <a:buNone/>
            </a:pPr>
            <a:r>
              <a:rPr lang="en-US" sz="3950" dirty="0">
                <a:latin typeface="Instrument Sans Medium" pitchFamily="34" charset="0"/>
                <a:ea typeface="Instrument Sans Medium" pitchFamily="34" charset="-122"/>
                <a:cs typeface="Instrument Sans Medium" pitchFamily="34" charset="-120"/>
              </a:rPr>
              <a:t>Arquitectura del Ejercicio TTX</a:t>
            </a:r>
            <a:endParaRPr lang="en-US" sz="3950" dirty="0"/>
          </a:p>
        </p:txBody>
      </p:sp>
      <p:sp>
        <p:nvSpPr>
          <p:cNvPr id="3" name="Text 1">
            <a:extLst>
              <a:ext uri="{FF2B5EF4-FFF2-40B4-BE49-F238E27FC236}">
                <a16:creationId xmlns:a16="http://schemas.microsoft.com/office/drawing/2014/main" id="{4DFBCABF-580C-0FE7-70E2-73334B78420A}"/>
              </a:ext>
            </a:extLst>
          </p:cNvPr>
          <p:cNvSpPr/>
          <p:nvPr/>
        </p:nvSpPr>
        <p:spPr>
          <a:xfrm>
            <a:off x="706993" y="1549360"/>
            <a:ext cx="10656332" cy="611029"/>
          </a:xfrm>
          <a:prstGeom prst="rect">
            <a:avLst/>
          </a:prstGeom>
          <a:noFill/>
          <a:ln/>
        </p:spPr>
        <p:txBody>
          <a:bodyPr wrap="square" lIns="0" tIns="0" rIns="0" bIns="0" rtlCol="0" anchor="t"/>
          <a:lstStyle/>
          <a:p>
            <a:pPr marL="0" indent="0" algn="l">
              <a:lnSpc>
                <a:spcPts val="2400"/>
              </a:lnSpc>
              <a:buNone/>
            </a:pPr>
            <a:r>
              <a:rPr lang="en-US" sz="1550" dirty="0">
                <a:latin typeface="Open Sans" pitchFamily="34" charset="0"/>
                <a:ea typeface="Open Sans" pitchFamily="34" charset="-122"/>
                <a:cs typeface="Open Sans" pitchFamily="34" charset="-120"/>
              </a:rPr>
              <a:t>Diseñado bajo el estándar </a:t>
            </a:r>
            <a:r>
              <a:rPr lang="en-US" sz="1550" b="1" dirty="0">
                <a:latin typeface="Open Sans" pitchFamily="34" charset="0"/>
                <a:ea typeface="Open Sans" pitchFamily="34" charset="-122"/>
                <a:cs typeface="Open Sans" pitchFamily="34" charset="-120"/>
              </a:rPr>
              <a:t>NIST CSF 2.0</a:t>
            </a:r>
            <a:r>
              <a:rPr lang="en-US" sz="1550" dirty="0">
                <a:latin typeface="Open Sans" pitchFamily="34" charset="0"/>
                <a:ea typeface="Open Sans" pitchFamily="34" charset="-122"/>
                <a:cs typeface="Open Sans" pitchFamily="34" charset="-120"/>
              </a:rPr>
              <a:t> e integrado con la matriz </a:t>
            </a:r>
            <a:r>
              <a:rPr lang="en-US" sz="1550" b="1" dirty="0">
                <a:latin typeface="Open Sans" pitchFamily="34" charset="0"/>
                <a:ea typeface="Open Sans" pitchFamily="34" charset="-122"/>
                <a:cs typeface="Open Sans" pitchFamily="34" charset="-120"/>
              </a:rPr>
              <a:t>MITRE ATT&amp;CK</a:t>
            </a:r>
            <a:r>
              <a:rPr lang="en-US" sz="1550" dirty="0">
                <a:latin typeface="Open Sans" pitchFamily="34" charset="0"/>
                <a:ea typeface="Open Sans" pitchFamily="34" charset="-122"/>
                <a:cs typeface="Open Sans" pitchFamily="34" charset="-120"/>
              </a:rPr>
              <a:t>, el ejercicio se desarrolla en tres fases progresivas que elevan gradualmente la presión sobre el equipo directivo.</a:t>
            </a:r>
            <a:endParaRPr lang="en-US" sz="1550" dirty="0"/>
          </a:p>
        </p:txBody>
      </p:sp>
      <p:pic>
        <p:nvPicPr>
          <p:cNvPr id="4" name="Image 0" descr="preencoded.png">
            <a:extLst>
              <a:ext uri="{FF2B5EF4-FFF2-40B4-BE49-F238E27FC236}">
                <a16:creationId xmlns:a16="http://schemas.microsoft.com/office/drawing/2014/main" id="{30D6D3E5-4D2D-8C12-A282-86BE37858A97}"/>
              </a:ext>
            </a:extLst>
          </p:cNvPr>
          <p:cNvPicPr>
            <a:picLocks noChangeAspect="1"/>
          </p:cNvPicPr>
          <p:nvPr/>
        </p:nvPicPr>
        <p:blipFill>
          <a:blip r:embed="rId2"/>
          <a:stretch>
            <a:fillRect/>
          </a:stretch>
        </p:blipFill>
        <p:spPr>
          <a:xfrm>
            <a:off x="918684" y="2362795"/>
            <a:ext cx="9663589" cy="3409355"/>
          </a:xfrm>
          <a:prstGeom prst="rect">
            <a:avLst/>
          </a:prstGeom>
        </p:spPr>
      </p:pic>
      <p:sp>
        <p:nvSpPr>
          <p:cNvPr id="5" name="Text 6">
            <a:extLst>
              <a:ext uri="{FF2B5EF4-FFF2-40B4-BE49-F238E27FC236}">
                <a16:creationId xmlns:a16="http://schemas.microsoft.com/office/drawing/2014/main" id="{41B7E2C7-575C-0E90-680C-510A5F69419C}"/>
              </a:ext>
            </a:extLst>
          </p:cNvPr>
          <p:cNvSpPr/>
          <p:nvPr/>
        </p:nvSpPr>
        <p:spPr>
          <a:xfrm>
            <a:off x="1116568" y="4645365"/>
            <a:ext cx="1929551" cy="371703"/>
          </a:xfrm>
          <a:prstGeom prst="rect">
            <a:avLst/>
          </a:prstGeom>
          <a:noFill/>
          <a:ln/>
        </p:spPr>
        <p:txBody>
          <a:bodyPr wrap="none" lIns="0" tIns="0" rIns="0" bIns="0" rtlCol="0" anchor="t"/>
          <a:lstStyle/>
          <a:p>
            <a:pPr marL="0" indent="0" algn="ctr">
              <a:lnSpc>
                <a:spcPts val="2900"/>
              </a:lnSpc>
              <a:buNone/>
            </a:pPr>
            <a:r>
              <a:rPr lang="en-US" sz="2300" b="1" dirty="0">
                <a:solidFill>
                  <a:srgbClr val="0070C0"/>
                </a:solidFill>
                <a:latin typeface="Instrument Sans Medium" pitchFamily="34" charset="0"/>
                <a:ea typeface="Instrument Sans Medium" pitchFamily="34" charset="-122"/>
                <a:cs typeface="Instrument Sans Medium" pitchFamily="34" charset="-120"/>
              </a:rPr>
              <a:t>Detección</a:t>
            </a:r>
            <a:endParaRPr lang="en-US" sz="2300" b="1" dirty="0">
              <a:solidFill>
                <a:srgbClr val="0070C0"/>
              </a:solidFill>
            </a:endParaRPr>
          </a:p>
        </p:txBody>
      </p:sp>
      <p:sp>
        <p:nvSpPr>
          <p:cNvPr id="6" name="Text 5">
            <a:extLst>
              <a:ext uri="{FF2B5EF4-FFF2-40B4-BE49-F238E27FC236}">
                <a16:creationId xmlns:a16="http://schemas.microsoft.com/office/drawing/2014/main" id="{985662C5-1B6A-6781-599F-9CDA667DAE08}"/>
              </a:ext>
            </a:extLst>
          </p:cNvPr>
          <p:cNvSpPr/>
          <p:nvPr/>
        </p:nvSpPr>
        <p:spPr>
          <a:xfrm>
            <a:off x="2900585" y="4645365"/>
            <a:ext cx="1929550" cy="371703"/>
          </a:xfrm>
          <a:prstGeom prst="rect">
            <a:avLst/>
          </a:prstGeom>
          <a:noFill/>
          <a:ln/>
        </p:spPr>
        <p:txBody>
          <a:bodyPr wrap="none" lIns="0" tIns="0" rIns="0" bIns="0" rtlCol="0" anchor="t"/>
          <a:lstStyle/>
          <a:p>
            <a:pPr marL="0" indent="0" algn="ctr">
              <a:lnSpc>
                <a:spcPts val="2900"/>
              </a:lnSpc>
              <a:buNone/>
            </a:pPr>
            <a:r>
              <a:rPr lang="en-US" sz="2300" b="1" dirty="0">
                <a:solidFill>
                  <a:srgbClr val="0070C0"/>
                </a:solidFill>
                <a:latin typeface="Instrument Sans Medium" pitchFamily="34" charset="0"/>
                <a:ea typeface="Instrument Sans Medium" pitchFamily="34" charset="-122"/>
                <a:cs typeface="Instrument Sans Medium" pitchFamily="34" charset="-120"/>
              </a:rPr>
              <a:t>Contención</a:t>
            </a:r>
            <a:endParaRPr lang="en-US" sz="2300" b="1" dirty="0">
              <a:solidFill>
                <a:srgbClr val="0070C0"/>
              </a:solidFill>
            </a:endParaRPr>
          </a:p>
        </p:txBody>
      </p:sp>
      <p:sp>
        <p:nvSpPr>
          <p:cNvPr id="7" name="Text 4">
            <a:extLst>
              <a:ext uri="{FF2B5EF4-FFF2-40B4-BE49-F238E27FC236}">
                <a16:creationId xmlns:a16="http://schemas.microsoft.com/office/drawing/2014/main" id="{635F529B-AFC7-D129-44C6-5B6E672F7FB0}"/>
              </a:ext>
            </a:extLst>
          </p:cNvPr>
          <p:cNvSpPr/>
          <p:nvPr/>
        </p:nvSpPr>
        <p:spPr>
          <a:xfrm>
            <a:off x="4876314" y="4645363"/>
            <a:ext cx="2091747" cy="371703"/>
          </a:xfrm>
          <a:prstGeom prst="rect">
            <a:avLst/>
          </a:prstGeom>
          <a:noFill/>
          <a:ln/>
        </p:spPr>
        <p:txBody>
          <a:bodyPr wrap="square" lIns="0" tIns="0" rIns="0" bIns="0" rtlCol="0" anchor="t"/>
          <a:lstStyle/>
          <a:p>
            <a:pPr marL="0" indent="0" algn="ctr">
              <a:lnSpc>
                <a:spcPts val="2900"/>
              </a:lnSpc>
              <a:buNone/>
            </a:pPr>
            <a:r>
              <a:rPr lang="en-US" sz="2300" b="1" dirty="0">
                <a:solidFill>
                  <a:srgbClr val="0070C0"/>
                </a:solidFill>
                <a:latin typeface="Instrument Sans Medium" pitchFamily="34" charset="0"/>
                <a:ea typeface="Instrument Sans Medium" pitchFamily="34" charset="-122"/>
                <a:cs typeface="Instrument Sans Medium" pitchFamily="34" charset="-120"/>
              </a:rPr>
              <a:t>Comunicación</a:t>
            </a:r>
            <a:endParaRPr lang="en-US" sz="2300" b="1" dirty="0">
              <a:solidFill>
                <a:srgbClr val="0070C0"/>
              </a:solidFill>
            </a:endParaRPr>
          </a:p>
        </p:txBody>
      </p:sp>
      <p:sp>
        <p:nvSpPr>
          <p:cNvPr id="8" name="Text 3">
            <a:extLst>
              <a:ext uri="{FF2B5EF4-FFF2-40B4-BE49-F238E27FC236}">
                <a16:creationId xmlns:a16="http://schemas.microsoft.com/office/drawing/2014/main" id="{086FD6C8-3F0D-A878-1D4E-8CB004432A29}"/>
              </a:ext>
            </a:extLst>
          </p:cNvPr>
          <p:cNvSpPr/>
          <p:nvPr/>
        </p:nvSpPr>
        <p:spPr>
          <a:xfrm>
            <a:off x="6614152" y="4645363"/>
            <a:ext cx="1929550" cy="371703"/>
          </a:xfrm>
          <a:prstGeom prst="rect">
            <a:avLst/>
          </a:prstGeom>
          <a:noFill/>
          <a:ln/>
        </p:spPr>
        <p:txBody>
          <a:bodyPr wrap="none" lIns="0" tIns="0" rIns="0" bIns="0" rtlCol="0" anchor="t"/>
          <a:lstStyle/>
          <a:p>
            <a:pPr marL="0" indent="0" algn="ctr">
              <a:lnSpc>
                <a:spcPts val="2900"/>
              </a:lnSpc>
              <a:buNone/>
            </a:pPr>
            <a:r>
              <a:rPr lang="en-US" sz="2300" b="1" dirty="0">
                <a:solidFill>
                  <a:srgbClr val="0070C0"/>
                </a:solidFill>
                <a:latin typeface="Instrument Sans Medium" pitchFamily="34" charset="0"/>
                <a:ea typeface="Instrument Sans Medium" pitchFamily="34" charset="-122"/>
                <a:cs typeface="Instrument Sans Medium" pitchFamily="34" charset="-120"/>
              </a:rPr>
              <a:t>Gestión</a:t>
            </a:r>
            <a:endParaRPr lang="en-US" sz="2300" b="1" dirty="0">
              <a:solidFill>
                <a:srgbClr val="0070C0"/>
              </a:solidFill>
            </a:endParaRPr>
          </a:p>
        </p:txBody>
      </p:sp>
      <p:sp>
        <p:nvSpPr>
          <p:cNvPr id="9" name="Text 2">
            <a:extLst>
              <a:ext uri="{FF2B5EF4-FFF2-40B4-BE49-F238E27FC236}">
                <a16:creationId xmlns:a16="http://schemas.microsoft.com/office/drawing/2014/main" id="{7FF51C71-496C-33CD-466E-8252962BC8FC}"/>
              </a:ext>
            </a:extLst>
          </p:cNvPr>
          <p:cNvSpPr/>
          <p:nvPr/>
        </p:nvSpPr>
        <p:spPr>
          <a:xfrm>
            <a:off x="8475769" y="4645362"/>
            <a:ext cx="1929550" cy="371703"/>
          </a:xfrm>
          <a:prstGeom prst="rect">
            <a:avLst/>
          </a:prstGeom>
          <a:noFill/>
          <a:ln/>
        </p:spPr>
        <p:txBody>
          <a:bodyPr wrap="none" lIns="0" tIns="0" rIns="0" bIns="0" rtlCol="0" anchor="t"/>
          <a:lstStyle/>
          <a:p>
            <a:pPr marL="0" indent="0" algn="ctr">
              <a:lnSpc>
                <a:spcPts val="2900"/>
              </a:lnSpc>
              <a:buNone/>
            </a:pPr>
            <a:r>
              <a:rPr lang="en-US" sz="2300" b="1" dirty="0">
                <a:solidFill>
                  <a:srgbClr val="0070C0"/>
                </a:solidFill>
                <a:latin typeface="Instrument Sans Medium" pitchFamily="34" charset="0"/>
                <a:ea typeface="Instrument Sans Medium" pitchFamily="34" charset="-122"/>
                <a:cs typeface="Instrument Sans Medium" pitchFamily="34" charset="-120"/>
              </a:rPr>
              <a:t>Recuperación</a:t>
            </a:r>
            <a:endParaRPr lang="en-US" sz="2300" b="1" dirty="0">
              <a:solidFill>
                <a:srgbClr val="0070C0"/>
              </a:solidFill>
            </a:endParaRPr>
          </a:p>
        </p:txBody>
      </p:sp>
      <p:sp>
        <p:nvSpPr>
          <p:cNvPr id="10" name="Text 7">
            <a:extLst>
              <a:ext uri="{FF2B5EF4-FFF2-40B4-BE49-F238E27FC236}">
                <a16:creationId xmlns:a16="http://schemas.microsoft.com/office/drawing/2014/main" id="{32A4FB93-3EBD-748D-F4F1-2C696EC5F29A}"/>
              </a:ext>
            </a:extLst>
          </p:cNvPr>
          <p:cNvSpPr/>
          <p:nvPr/>
        </p:nvSpPr>
        <p:spPr>
          <a:xfrm>
            <a:off x="706993" y="5669042"/>
            <a:ext cx="10370582" cy="305514"/>
          </a:xfrm>
          <a:prstGeom prst="rect">
            <a:avLst/>
          </a:prstGeom>
          <a:noFill/>
          <a:ln/>
        </p:spPr>
        <p:txBody>
          <a:bodyPr wrap="none" lIns="0" tIns="0" rIns="0" bIns="0" rtlCol="0" anchor="t"/>
          <a:lstStyle/>
          <a:p>
            <a:pPr marL="0" indent="0" algn="l">
              <a:lnSpc>
                <a:spcPts val="2400"/>
              </a:lnSpc>
              <a:buNone/>
            </a:pPr>
            <a:r>
              <a:rPr lang="en-US" sz="1550" dirty="0">
                <a:latin typeface="Open Sans" pitchFamily="34" charset="0"/>
                <a:ea typeface="Open Sans" pitchFamily="34" charset="-122"/>
                <a:cs typeface="Open Sans" pitchFamily="34" charset="-120"/>
              </a:rPr>
              <a:t>Duración total: </a:t>
            </a:r>
            <a:r>
              <a:rPr lang="en-US" sz="1550" b="1" dirty="0">
                <a:latin typeface="Open Sans" pitchFamily="34" charset="0"/>
                <a:ea typeface="Open Sans" pitchFamily="34" charset="-122"/>
                <a:cs typeface="Open Sans" pitchFamily="34" charset="-120"/>
              </a:rPr>
              <a:t>4.5 horas</a:t>
            </a:r>
            <a:r>
              <a:rPr lang="en-US" sz="1550" dirty="0">
                <a:latin typeface="Open Sans" pitchFamily="34" charset="0"/>
                <a:ea typeface="Open Sans" pitchFamily="34" charset="-122"/>
                <a:cs typeface="Open Sans" pitchFamily="34" charset="-120"/>
              </a:rPr>
              <a:t> · Incluye briefing inicial (15 min) + debriefing ejecutivo (30 min).</a:t>
            </a:r>
            <a:endParaRPr lang="en-US" sz="1550" dirty="0"/>
          </a:p>
        </p:txBody>
      </p:sp>
    </p:spTree>
    <p:extLst>
      <p:ext uri="{BB962C8B-B14F-4D97-AF65-F5344CB8AC3E}">
        <p14:creationId xmlns:p14="http://schemas.microsoft.com/office/powerpoint/2010/main" val="273749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1EEB8F8-D5E2-D3CD-9E6E-32D5F465D766}"/>
              </a:ext>
            </a:extLst>
          </p:cNvPr>
          <p:cNvSpPr/>
          <p:nvPr/>
        </p:nvSpPr>
        <p:spPr>
          <a:xfrm>
            <a:off x="527090" y="495419"/>
            <a:ext cx="6499860" cy="708779"/>
          </a:xfrm>
          <a:prstGeom prst="rect">
            <a:avLst/>
          </a:prstGeom>
          <a:noFill/>
          <a:ln/>
        </p:spPr>
        <p:txBody>
          <a:bodyPr wrap="none" lIns="0" tIns="0" rIns="0" bIns="0" rtlCol="0" anchor="t"/>
          <a:lstStyle/>
          <a:p>
            <a:pPr marL="0" indent="0" algn="l">
              <a:lnSpc>
                <a:spcPts val="5550"/>
              </a:lnSpc>
              <a:buNone/>
            </a:pPr>
            <a:r>
              <a:rPr lang="en-US" sz="4450" dirty="0">
                <a:latin typeface="Instrument Sans Medium" pitchFamily="34" charset="0"/>
                <a:ea typeface="Instrument Sans Medium" pitchFamily="34" charset="-122"/>
                <a:cs typeface="Instrument Sans Medium" pitchFamily="34" charset="-120"/>
              </a:rPr>
              <a:t>Las Tres Fases en Detalle</a:t>
            </a:r>
            <a:endParaRPr lang="en-US" sz="4450" dirty="0"/>
          </a:p>
        </p:txBody>
      </p:sp>
      <p:sp>
        <p:nvSpPr>
          <p:cNvPr id="3" name="Shape 1">
            <a:extLst>
              <a:ext uri="{FF2B5EF4-FFF2-40B4-BE49-F238E27FC236}">
                <a16:creationId xmlns:a16="http://schemas.microsoft.com/office/drawing/2014/main" id="{129A1C5A-8BA3-7719-90BD-AFC70DDF83F5}"/>
              </a:ext>
            </a:extLst>
          </p:cNvPr>
          <p:cNvSpPr/>
          <p:nvPr/>
        </p:nvSpPr>
        <p:spPr>
          <a:xfrm>
            <a:off x="251249" y="1442323"/>
            <a:ext cx="3742730" cy="4758452"/>
          </a:xfrm>
          <a:prstGeom prst="roundRect">
            <a:avLst>
              <a:gd name="adj" fmla="val 811"/>
            </a:avLst>
          </a:prstGeom>
          <a:solidFill>
            <a:srgbClr val="3E3E3E"/>
          </a:solidFill>
          <a:ln/>
        </p:spPr>
      </p:sp>
      <p:sp>
        <p:nvSpPr>
          <p:cNvPr id="4" name="Shape 5">
            <a:extLst>
              <a:ext uri="{FF2B5EF4-FFF2-40B4-BE49-F238E27FC236}">
                <a16:creationId xmlns:a16="http://schemas.microsoft.com/office/drawing/2014/main" id="{AAA9C62E-DF90-8E15-4C6E-44EE694C6A4B}"/>
              </a:ext>
            </a:extLst>
          </p:cNvPr>
          <p:cNvSpPr/>
          <p:nvPr/>
        </p:nvSpPr>
        <p:spPr>
          <a:xfrm>
            <a:off x="4229142" y="1442323"/>
            <a:ext cx="3959666" cy="4758452"/>
          </a:xfrm>
          <a:prstGeom prst="roundRect">
            <a:avLst>
              <a:gd name="adj" fmla="val 811"/>
            </a:avLst>
          </a:prstGeom>
          <a:solidFill>
            <a:srgbClr val="3E3E3E"/>
          </a:solidFill>
          <a:ln/>
        </p:spPr>
      </p:sp>
      <p:sp>
        <p:nvSpPr>
          <p:cNvPr id="5" name="Shape 9">
            <a:extLst>
              <a:ext uri="{FF2B5EF4-FFF2-40B4-BE49-F238E27FC236}">
                <a16:creationId xmlns:a16="http://schemas.microsoft.com/office/drawing/2014/main" id="{FAC75877-9ACD-91BB-5301-34C620C00B86}"/>
              </a:ext>
            </a:extLst>
          </p:cNvPr>
          <p:cNvSpPr/>
          <p:nvPr/>
        </p:nvSpPr>
        <p:spPr>
          <a:xfrm>
            <a:off x="8318682" y="1442323"/>
            <a:ext cx="3873317" cy="4758452"/>
          </a:xfrm>
          <a:prstGeom prst="roundRect">
            <a:avLst>
              <a:gd name="adj" fmla="val 811"/>
            </a:avLst>
          </a:prstGeom>
          <a:solidFill>
            <a:srgbClr val="3E3E3E"/>
          </a:solidFill>
          <a:ln/>
        </p:spPr>
      </p:sp>
      <p:sp>
        <p:nvSpPr>
          <p:cNvPr id="6" name="Text 2">
            <a:extLst>
              <a:ext uri="{FF2B5EF4-FFF2-40B4-BE49-F238E27FC236}">
                <a16:creationId xmlns:a16="http://schemas.microsoft.com/office/drawing/2014/main" id="{CD90A408-7E5B-57B5-B0D9-12F0C2F419D6}"/>
              </a:ext>
            </a:extLst>
          </p:cNvPr>
          <p:cNvSpPr/>
          <p:nvPr/>
        </p:nvSpPr>
        <p:spPr>
          <a:xfrm>
            <a:off x="552508" y="1654017"/>
            <a:ext cx="2760821" cy="708660"/>
          </a:xfrm>
          <a:prstGeom prst="rect">
            <a:avLst/>
          </a:prstGeom>
          <a:noFill/>
          <a:ln/>
        </p:spPr>
        <p:txBody>
          <a:bodyPr wrap="square" lIns="0" tIns="0" rIns="0" bIns="0" rtlCol="0" anchor="t"/>
          <a:lstStyle/>
          <a:p>
            <a:pPr marL="0" indent="0" algn="l">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Fase 1 · Detección &amp; Contención</a:t>
            </a:r>
            <a:endParaRPr lang="en-US" sz="2200" dirty="0"/>
          </a:p>
        </p:txBody>
      </p:sp>
      <p:sp>
        <p:nvSpPr>
          <p:cNvPr id="7" name="Text 3">
            <a:extLst>
              <a:ext uri="{FF2B5EF4-FFF2-40B4-BE49-F238E27FC236}">
                <a16:creationId xmlns:a16="http://schemas.microsoft.com/office/drawing/2014/main" id="{E9F37034-55A0-ACBB-7576-E714317CECD4}"/>
              </a:ext>
            </a:extLst>
          </p:cNvPr>
          <p:cNvSpPr/>
          <p:nvPr/>
        </p:nvSpPr>
        <p:spPr>
          <a:xfrm>
            <a:off x="552508" y="2481739"/>
            <a:ext cx="3038417" cy="1451610"/>
          </a:xfrm>
          <a:prstGeom prst="rect">
            <a:avLst/>
          </a:prstGeom>
          <a:noFill/>
          <a:ln/>
        </p:spPr>
        <p:txBody>
          <a:bodyPr wrap="square" lIns="0" tIns="0" rIns="0" bIns="0" rtlCol="0" anchor="t"/>
          <a:lstStyle/>
          <a:p>
            <a:pPr marL="0" indent="0" algn="l">
              <a:lnSpc>
                <a:spcPts val="2850"/>
              </a:lnSpc>
              <a:buNone/>
            </a:pPr>
            <a:r>
              <a:rPr lang="en-US" sz="1750" dirty="0">
                <a:solidFill>
                  <a:srgbClr val="BFBFBF"/>
                </a:solidFill>
                <a:latin typeface="Open Sans" pitchFamily="34" charset="0"/>
                <a:ea typeface="Open Sans" pitchFamily="34" charset="-122"/>
                <a:cs typeface="Open Sans" pitchFamily="34" charset="-120"/>
              </a:rPr>
              <a:t>Infiltración silenciosa. El equipo identifica el vector Spear Phishing, contiene el movimiento lateral y decide si aislar sistemas críticos.</a:t>
            </a:r>
            <a:endParaRPr lang="en-US" sz="1750" dirty="0"/>
          </a:p>
        </p:txBody>
      </p:sp>
      <p:sp>
        <p:nvSpPr>
          <p:cNvPr id="8" name="Text 4">
            <a:extLst>
              <a:ext uri="{FF2B5EF4-FFF2-40B4-BE49-F238E27FC236}">
                <a16:creationId xmlns:a16="http://schemas.microsoft.com/office/drawing/2014/main" id="{EBE33161-0ECA-5DD0-E6A1-71588D7D34BD}"/>
              </a:ext>
            </a:extLst>
          </p:cNvPr>
          <p:cNvSpPr/>
          <p:nvPr/>
        </p:nvSpPr>
        <p:spPr>
          <a:xfrm>
            <a:off x="308400" y="4438530"/>
            <a:ext cx="3742730" cy="1530906"/>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¿Cuándo se activa el Comité de Crisis?</a:t>
            </a:r>
            <a:endParaRPr lang="en-US" sz="1750" dirty="0"/>
          </a:p>
          <a:p>
            <a:pPr marL="342900" indent="-342900" algn="l">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¿Qué sistemas se aíslan y bajo qué criterio?</a:t>
            </a:r>
            <a:endParaRPr lang="en-US" sz="1750" dirty="0"/>
          </a:p>
        </p:txBody>
      </p:sp>
      <p:sp>
        <p:nvSpPr>
          <p:cNvPr id="9" name="Text 6">
            <a:extLst>
              <a:ext uri="{FF2B5EF4-FFF2-40B4-BE49-F238E27FC236}">
                <a16:creationId xmlns:a16="http://schemas.microsoft.com/office/drawing/2014/main" id="{85395008-AB22-0D24-B367-4799C1AEDC9F}"/>
              </a:ext>
            </a:extLst>
          </p:cNvPr>
          <p:cNvSpPr/>
          <p:nvPr/>
        </p:nvSpPr>
        <p:spPr>
          <a:xfrm>
            <a:off x="4658298" y="1654017"/>
            <a:ext cx="3152202" cy="708660"/>
          </a:xfrm>
          <a:prstGeom prst="rect">
            <a:avLst/>
          </a:prstGeom>
          <a:noFill/>
          <a:ln/>
        </p:spPr>
        <p:txBody>
          <a:bodyPr wrap="square" lIns="0" tIns="0" rIns="0" bIns="0" rtlCol="0" anchor="t"/>
          <a:lstStyle/>
          <a:p>
            <a:pPr marL="0" indent="0" algn="l">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Fase 2 · Comunicación &amp; Crisis</a:t>
            </a:r>
            <a:endParaRPr lang="en-US" sz="2200" dirty="0"/>
          </a:p>
        </p:txBody>
      </p:sp>
      <p:sp>
        <p:nvSpPr>
          <p:cNvPr id="10" name="Text 7">
            <a:extLst>
              <a:ext uri="{FF2B5EF4-FFF2-40B4-BE49-F238E27FC236}">
                <a16:creationId xmlns:a16="http://schemas.microsoft.com/office/drawing/2014/main" id="{5EC07D2F-58D1-2448-3D01-38473015832D}"/>
              </a:ext>
            </a:extLst>
          </p:cNvPr>
          <p:cNvSpPr/>
          <p:nvPr/>
        </p:nvSpPr>
        <p:spPr>
          <a:xfrm>
            <a:off x="4436553" y="2472214"/>
            <a:ext cx="3742730" cy="2177415"/>
          </a:xfrm>
          <a:prstGeom prst="rect">
            <a:avLst/>
          </a:prstGeom>
          <a:noFill/>
          <a:ln/>
        </p:spPr>
        <p:txBody>
          <a:bodyPr wrap="square" lIns="0" tIns="0" rIns="0" bIns="0" rtlCol="0" anchor="t"/>
          <a:lstStyle/>
          <a:p>
            <a:pPr marL="0" indent="0" algn="l">
              <a:lnSpc>
                <a:spcPts val="2850"/>
              </a:lnSpc>
              <a:buNone/>
            </a:pPr>
            <a:r>
              <a:rPr lang="en-US" sz="1750" dirty="0">
                <a:solidFill>
                  <a:srgbClr val="BFBFBF"/>
                </a:solidFill>
                <a:latin typeface="Open Sans" pitchFamily="34" charset="0"/>
                <a:ea typeface="Open Sans" pitchFamily="34" charset="-122"/>
                <a:cs typeface="Open Sans" pitchFamily="34" charset="-120"/>
              </a:rPr>
              <a:t>El ransomware cifra servidores de siniestros. Llega una nota de rescate. La SFC solicita información. Dilemas éticos, legales y reputacionales en simultáneo.</a:t>
            </a:r>
            <a:endParaRPr lang="en-US" sz="1750" dirty="0"/>
          </a:p>
        </p:txBody>
      </p:sp>
      <p:sp>
        <p:nvSpPr>
          <p:cNvPr id="11" name="Text 8">
            <a:extLst>
              <a:ext uri="{FF2B5EF4-FFF2-40B4-BE49-F238E27FC236}">
                <a16:creationId xmlns:a16="http://schemas.microsoft.com/office/drawing/2014/main" id="{6D629509-A881-5480-70E2-AA5CAE57104F}"/>
              </a:ext>
            </a:extLst>
          </p:cNvPr>
          <p:cNvSpPr/>
          <p:nvPr/>
        </p:nvSpPr>
        <p:spPr>
          <a:xfrm>
            <a:off x="4406641" y="4318992"/>
            <a:ext cx="3742730" cy="1530906"/>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¿Se paga el rescate? ¿Quién autoriza?</a:t>
            </a:r>
            <a:endParaRPr lang="en-US" sz="1750" dirty="0"/>
          </a:p>
          <a:p>
            <a:pPr marL="342900" indent="-342900" algn="l">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¿Cuándo y cómo se notifica a la SFC?</a:t>
            </a:r>
            <a:endParaRPr lang="en-US" sz="1750" dirty="0"/>
          </a:p>
        </p:txBody>
      </p:sp>
      <p:sp>
        <p:nvSpPr>
          <p:cNvPr id="12" name="Text 10">
            <a:extLst>
              <a:ext uri="{FF2B5EF4-FFF2-40B4-BE49-F238E27FC236}">
                <a16:creationId xmlns:a16="http://schemas.microsoft.com/office/drawing/2014/main" id="{4B318B6D-6123-EEFF-5FD2-521754349DB5}"/>
              </a:ext>
            </a:extLst>
          </p:cNvPr>
          <p:cNvSpPr/>
          <p:nvPr/>
        </p:nvSpPr>
        <p:spPr>
          <a:xfrm>
            <a:off x="8414445" y="1673544"/>
            <a:ext cx="3742730" cy="708660"/>
          </a:xfrm>
          <a:prstGeom prst="rect">
            <a:avLst/>
          </a:prstGeom>
          <a:noFill/>
          <a:ln/>
        </p:spPr>
        <p:txBody>
          <a:bodyPr wrap="square" lIns="0" tIns="0" rIns="0" bIns="0" rtlCol="0" anchor="t"/>
          <a:lstStyle/>
          <a:p>
            <a:pPr marL="0" indent="0" algn="l">
              <a:lnSpc>
                <a:spcPts val="2750"/>
              </a:lnSpc>
              <a:buNone/>
            </a:pPr>
            <a:r>
              <a:rPr lang="en-US" sz="2200" dirty="0">
                <a:solidFill>
                  <a:srgbClr val="BFBFBF"/>
                </a:solidFill>
                <a:latin typeface="Instrument Sans Medium" pitchFamily="34" charset="0"/>
                <a:ea typeface="Instrument Sans Medium" pitchFamily="34" charset="-122"/>
                <a:cs typeface="Instrument Sans Medium" pitchFamily="34" charset="-120"/>
              </a:rPr>
              <a:t>Fase 3 · Continuidad &amp; Recuperación</a:t>
            </a:r>
            <a:endParaRPr lang="en-US" sz="2200" dirty="0"/>
          </a:p>
        </p:txBody>
      </p:sp>
      <p:sp>
        <p:nvSpPr>
          <p:cNvPr id="13" name="Text 11">
            <a:extLst>
              <a:ext uri="{FF2B5EF4-FFF2-40B4-BE49-F238E27FC236}">
                <a16:creationId xmlns:a16="http://schemas.microsoft.com/office/drawing/2014/main" id="{0D018073-91DB-94BA-0BE2-F1BFFFCC9BCD}"/>
              </a:ext>
            </a:extLst>
          </p:cNvPr>
          <p:cNvSpPr/>
          <p:nvPr/>
        </p:nvSpPr>
        <p:spPr>
          <a:xfrm>
            <a:off x="8421005" y="2476976"/>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BFBFBF"/>
                </a:solidFill>
                <a:latin typeface="Open Sans" pitchFamily="34" charset="0"/>
                <a:ea typeface="Open Sans" pitchFamily="34" charset="-122"/>
                <a:cs typeface="Open Sans" pitchFamily="34" charset="-120"/>
              </a:rPr>
              <a:t>Activación del BCP/DRP. El equipo prioriza restauración de servicios, gestiona proveedores afectados y proyecta el impacto financiero total.</a:t>
            </a:r>
            <a:endParaRPr lang="en-US" sz="1750" dirty="0"/>
          </a:p>
        </p:txBody>
      </p:sp>
      <p:sp>
        <p:nvSpPr>
          <p:cNvPr id="14" name="Text 12">
            <a:extLst>
              <a:ext uri="{FF2B5EF4-FFF2-40B4-BE49-F238E27FC236}">
                <a16:creationId xmlns:a16="http://schemas.microsoft.com/office/drawing/2014/main" id="{55CF75F4-0EC5-AE4F-75CF-305473C1A41B}"/>
              </a:ext>
            </a:extLst>
          </p:cNvPr>
          <p:cNvSpPr/>
          <p:nvPr/>
        </p:nvSpPr>
        <p:spPr>
          <a:xfrm>
            <a:off x="8421005" y="4291489"/>
            <a:ext cx="3742730" cy="1530906"/>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¿En qué orden se restauran los sistemas?</a:t>
            </a:r>
            <a:endParaRPr lang="en-US" sz="1750" dirty="0"/>
          </a:p>
          <a:p>
            <a:pPr marL="342900" indent="-342900" algn="l">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¿Cómo se gestiona a los reaseguradores?</a:t>
            </a:r>
            <a:endParaRPr lang="en-US" sz="1750" dirty="0"/>
          </a:p>
        </p:txBody>
      </p:sp>
    </p:spTree>
    <p:extLst>
      <p:ext uri="{BB962C8B-B14F-4D97-AF65-F5344CB8AC3E}">
        <p14:creationId xmlns:p14="http://schemas.microsoft.com/office/powerpoint/2010/main" val="3480976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4902EC5-EEDB-CE04-E1A9-BA25D6D61CD8}"/>
              </a:ext>
            </a:extLst>
          </p:cNvPr>
          <p:cNvPicPr>
            <a:picLocks noChangeAspect="1"/>
          </p:cNvPicPr>
          <p:nvPr/>
        </p:nvPicPr>
        <p:blipFill>
          <a:blip r:embed="rId2"/>
          <a:stretch>
            <a:fillRect/>
          </a:stretch>
        </p:blipFill>
        <p:spPr>
          <a:xfrm>
            <a:off x="7639050" y="964525"/>
            <a:ext cx="4552950" cy="5893474"/>
          </a:xfrm>
          <a:prstGeom prst="rect">
            <a:avLst/>
          </a:prstGeom>
        </p:spPr>
      </p:pic>
      <p:sp>
        <p:nvSpPr>
          <p:cNvPr id="3" name="Text 0">
            <a:extLst>
              <a:ext uri="{FF2B5EF4-FFF2-40B4-BE49-F238E27FC236}">
                <a16:creationId xmlns:a16="http://schemas.microsoft.com/office/drawing/2014/main" id="{BCDAA33C-BA9E-9F4C-2C20-CFAD6C9CA632}"/>
              </a:ext>
            </a:extLst>
          </p:cNvPr>
          <p:cNvSpPr/>
          <p:nvPr/>
        </p:nvSpPr>
        <p:spPr>
          <a:xfrm>
            <a:off x="217289" y="279559"/>
            <a:ext cx="6157793" cy="542687"/>
          </a:xfrm>
          <a:prstGeom prst="rect">
            <a:avLst/>
          </a:prstGeom>
          <a:noFill/>
          <a:ln/>
        </p:spPr>
        <p:txBody>
          <a:bodyPr wrap="none" lIns="0" tIns="0" rIns="0" bIns="0" rtlCol="0" anchor="t"/>
          <a:lstStyle/>
          <a:p>
            <a:pPr marL="0" indent="0" algn="l">
              <a:lnSpc>
                <a:spcPts val="4250"/>
              </a:lnSpc>
              <a:buNone/>
            </a:pPr>
            <a:r>
              <a:rPr lang="en-US" sz="3400" dirty="0">
                <a:latin typeface="Instrument Sans Medium" pitchFamily="34" charset="0"/>
                <a:ea typeface="Instrument Sans Medium" pitchFamily="34" charset="-122"/>
                <a:cs typeface="Instrument Sans Medium" pitchFamily="34" charset="-120"/>
              </a:rPr>
              <a:t>Perfiles Directivos del Ejercicio</a:t>
            </a:r>
            <a:endParaRPr lang="en-US" sz="3400" dirty="0"/>
          </a:p>
        </p:txBody>
      </p:sp>
      <p:sp>
        <p:nvSpPr>
          <p:cNvPr id="4" name="Text 1">
            <a:extLst>
              <a:ext uri="{FF2B5EF4-FFF2-40B4-BE49-F238E27FC236}">
                <a16:creationId xmlns:a16="http://schemas.microsoft.com/office/drawing/2014/main" id="{B022F2F0-C1C2-D9B7-2FFF-E8EC9673D58A}"/>
              </a:ext>
            </a:extLst>
          </p:cNvPr>
          <p:cNvSpPr/>
          <p:nvPr/>
        </p:nvSpPr>
        <p:spPr>
          <a:xfrm>
            <a:off x="150614" y="964525"/>
            <a:ext cx="6564511" cy="490538"/>
          </a:xfrm>
          <a:prstGeom prst="rect">
            <a:avLst/>
          </a:prstGeom>
          <a:noFill/>
          <a:ln/>
        </p:spPr>
        <p:txBody>
          <a:bodyPr wrap="square" lIns="0" tIns="0" rIns="0" bIns="0" rtlCol="0" anchor="t"/>
          <a:lstStyle/>
          <a:p>
            <a:pPr marL="0" indent="0" algn="l">
              <a:lnSpc>
                <a:spcPts val="1900"/>
              </a:lnSpc>
              <a:buNone/>
            </a:pPr>
            <a:r>
              <a:rPr lang="en-US" sz="1350" dirty="0">
                <a:latin typeface="Open Sans" pitchFamily="34" charset="0"/>
                <a:ea typeface="Open Sans" pitchFamily="34" charset="-122"/>
                <a:cs typeface="Open Sans" pitchFamily="34" charset="-120"/>
              </a:rPr>
              <a:t>Cada rol recibe un </a:t>
            </a:r>
            <a:r>
              <a:rPr lang="en-US" sz="1350" b="1" dirty="0">
                <a:latin typeface="Open Sans" pitchFamily="34" charset="0"/>
                <a:ea typeface="Open Sans" pitchFamily="34" charset="-122"/>
                <a:cs typeface="Open Sans" pitchFamily="34" charset="-120"/>
              </a:rPr>
              <a:t>brief personalizado</a:t>
            </a:r>
            <a:r>
              <a:rPr lang="en-US" sz="1350" dirty="0">
                <a:latin typeface="Open Sans" pitchFamily="34" charset="0"/>
                <a:ea typeface="Open Sans" pitchFamily="34" charset="-122"/>
                <a:cs typeface="Open Sans" pitchFamily="34" charset="-120"/>
              </a:rPr>
              <a:t> con dilemas adaptados a su función. El lenguaje se adapta al perfil de negocio, no al técnico.</a:t>
            </a:r>
            <a:endParaRPr lang="en-US" sz="1350" dirty="0"/>
          </a:p>
        </p:txBody>
      </p:sp>
      <p:pic>
        <p:nvPicPr>
          <p:cNvPr id="5" name="Image 1" descr="preencoded.png">
            <a:extLst>
              <a:ext uri="{FF2B5EF4-FFF2-40B4-BE49-F238E27FC236}">
                <a16:creationId xmlns:a16="http://schemas.microsoft.com/office/drawing/2014/main" id="{0B989721-9E12-4DD2-91B4-8BE39C4F81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4439" y="1671280"/>
            <a:ext cx="434102" cy="434102"/>
          </a:xfrm>
          <a:prstGeom prst="rect">
            <a:avLst/>
          </a:prstGeom>
        </p:spPr>
      </p:pic>
      <p:sp>
        <p:nvSpPr>
          <p:cNvPr id="6" name="Text 2">
            <a:extLst>
              <a:ext uri="{FF2B5EF4-FFF2-40B4-BE49-F238E27FC236}">
                <a16:creationId xmlns:a16="http://schemas.microsoft.com/office/drawing/2014/main" id="{D64E5439-EAEE-A0A2-3E7A-2ABEDA4680E9}"/>
              </a:ext>
            </a:extLst>
          </p:cNvPr>
          <p:cNvSpPr/>
          <p:nvPr/>
        </p:nvSpPr>
        <p:spPr>
          <a:xfrm>
            <a:off x="245864" y="2147887"/>
            <a:ext cx="2170748" cy="271224"/>
          </a:xfrm>
          <a:prstGeom prst="rect">
            <a:avLst/>
          </a:prstGeom>
          <a:noFill/>
          <a:ln/>
        </p:spPr>
        <p:txBody>
          <a:bodyPr wrap="none" lIns="0" tIns="0" rIns="0" bIns="0" rtlCol="0" anchor="t"/>
          <a:lstStyle/>
          <a:p>
            <a:pPr marL="0" indent="0" algn="l">
              <a:lnSpc>
                <a:spcPts val="2100"/>
              </a:lnSpc>
              <a:buNone/>
            </a:pPr>
            <a:r>
              <a:rPr lang="en-US" sz="1700" dirty="0">
                <a:latin typeface="Instrument Sans Medium" pitchFamily="34" charset="0"/>
                <a:ea typeface="Instrument Sans Medium" pitchFamily="34" charset="-122"/>
                <a:cs typeface="Instrument Sans Medium" pitchFamily="34" charset="-120"/>
              </a:rPr>
              <a:t>CEO / CFO</a:t>
            </a:r>
            <a:endParaRPr lang="en-US" sz="1700" dirty="0"/>
          </a:p>
        </p:txBody>
      </p:sp>
      <p:sp>
        <p:nvSpPr>
          <p:cNvPr id="7" name="Text 3">
            <a:extLst>
              <a:ext uri="{FF2B5EF4-FFF2-40B4-BE49-F238E27FC236}">
                <a16:creationId xmlns:a16="http://schemas.microsoft.com/office/drawing/2014/main" id="{6A720C38-00F2-02A3-B259-705B6855452B}"/>
              </a:ext>
            </a:extLst>
          </p:cNvPr>
          <p:cNvSpPr/>
          <p:nvPr/>
        </p:nvSpPr>
        <p:spPr>
          <a:xfrm>
            <a:off x="217289" y="2449947"/>
            <a:ext cx="7136011" cy="245269"/>
          </a:xfrm>
          <a:prstGeom prst="rect">
            <a:avLst/>
          </a:prstGeom>
          <a:noFill/>
          <a:ln/>
        </p:spPr>
        <p:txBody>
          <a:bodyPr wrap="none" lIns="0" tIns="0" rIns="0" bIns="0" rtlCol="0" anchor="t"/>
          <a:lstStyle/>
          <a:p>
            <a:pPr marL="0" indent="0" algn="l">
              <a:lnSpc>
                <a:spcPts val="1900"/>
              </a:lnSpc>
              <a:buNone/>
            </a:pPr>
            <a:r>
              <a:rPr lang="en-US" sz="1350" dirty="0">
                <a:latin typeface="Open Sans" pitchFamily="34" charset="0"/>
                <a:ea typeface="Open Sans" pitchFamily="34" charset="-122"/>
                <a:cs typeface="Open Sans" pitchFamily="34" charset="-120"/>
              </a:rPr>
              <a:t>Escalar la crisis, autorizar pago de rescate, gestionar impacto económico y reaseguradores.</a:t>
            </a:r>
            <a:endParaRPr lang="en-US" sz="1350" dirty="0"/>
          </a:p>
        </p:txBody>
      </p:sp>
      <p:pic>
        <p:nvPicPr>
          <p:cNvPr id="8" name="Image 2" descr="preencoded.png">
            <a:extLst>
              <a:ext uri="{FF2B5EF4-FFF2-40B4-BE49-F238E27FC236}">
                <a16:creationId xmlns:a16="http://schemas.microsoft.com/office/drawing/2014/main" id="{7B3CD25C-49DB-62CE-6BB9-063F5F9FBD1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4439" y="2894884"/>
            <a:ext cx="434102" cy="434102"/>
          </a:xfrm>
          <a:prstGeom prst="rect">
            <a:avLst/>
          </a:prstGeom>
        </p:spPr>
      </p:pic>
      <p:sp>
        <p:nvSpPr>
          <p:cNvPr id="9" name="Text 4">
            <a:extLst>
              <a:ext uri="{FF2B5EF4-FFF2-40B4-BE49-F238E27FC236}">
                <a16:creationId xmlns:a16="http://schemas.microsoft.com/office/drawing/2014/main" id="{BEB3AA51-AA68-D795-F6C7-187B528E5BD2}"/>
              </a:ext>
            </a:extLst>
          </p:cNvPr>
          <p:cNvSpPr/>
          <p:nvPr/>
        </p:nvSpPr>
        <p:spPr>
          <a:xfrm>
            <a:off x="245864" y="3393042"/>
            <a:ext cx="2170748" cy="271224"/>
          </a:xfrm>
          <a:prstGeom prst="rect">
            <a:avLst/>
          </a:prstGeom>
          <a:noFill/>
          <a:ln/>
        </p:spPr>
        <p:txBody>
          <a:bodyPr wrap="none" lIns="0" tIns="0" rIns="0" bIns="0" rtlCol="0" anchor="t"/>
          <a:lstStyle/>
          <a:p>
            <a:pPr marL="0" indent="0" algn="l">
              <a:lnSpc>
                <a:spcPts val="2100"/>
              </a:lnSpc>
              <a:buNone/>
            </a:pPr>
            <a:r>
              <a:rPr lang="en-US" sz="1700" dirty="0">
                <a:latin typeface="Instrument Sans Medium" pitchFamily="34" charset="0"/>
                <a:ea typeface="Instrument Sans Medium" pitchFamily="34" charset="-122"/>
                <a:cs typeface="Instrument Sans Medium" pitchFamily="34" charset="-120"/>
              </a:rPr>
              <a:t>Legal / Compliance</a:t>
            </a:r>
            <a:endParaRPr lang="en-US" sz="1700" dirty="0"/>
          </a:p>
        </p:txBody>
      </p:sp>
      <p:sp>
        <p:nvSpPr>
          <p:cNvPr id="10" name="Text 5">
            <a:extLst>
              <a:ext uri="{FF2B5EF4-FFF2-40B4-BE49-F238E27FC236}">
                <a16:creationId xmlns:a16="http://schemas.microsoft.com/office/drawing/2014/main" id="{9706B210-6B07-0DDB-4CE5-3C96CED8C630}"/>
              </a:ext>
            </a:extLst>
          </p:cNvPr>
          <p:cNvSpPr/>
          <p:nvPr/>
        </p:nvSpPr>
        <p:spPr>
          <a:xfrm>
            <a:off x="207764" y="3728322"/>
            <a:ext cx="7307461" cy="245269"/>
          </a:xfrm>
          <a:prstGeom prst="rect">
            <a:avLst/>
          </a:prstGeom>
          <a:noFill/>
          <a:ln/>
        </p:spPr>
        <p:txBody>
          <a:bodyPr wrap="none" lIns="0" tIns="0" rIns="0" bIns="0" rtlCol="0" anchor="t"/>
          <a:lstStyle/>
          <a:p>
            <a:pPr marL="0" indent="0" algn="l">
              <a:lnSpc>
                <a:spcPts val="1900"/>
              </a:lnSpc>
              <a:buNone/>
            </a:pPr>
            <a:r>
              <a:rPr lang="en-US" sz="1350" dirty="0">
                <a:latin typeface="Open Sans" pitchFamily="34" charset="0"/>
                <a:ea typeface="Open Sans" pitchFamily="34" charset="-122"/>
                <a:cs typeface="Open Sans" pitchFamily="34" charset="-120"/>
              </a:rPr>
              <a:t>Notificación a la SFC, riesgo regulatorio, SARLAFT y decisión legal sobre el rescate.</a:t>
            </a:r>
            <a:endParaRPr lang="en-US" sz="1350" dirty="0"/>
          </a:p>
        </p:txBody>
      </p:sp>
      <p:pic>
        <p:nvPicPr>
          <p:cNvPr id="11" name="Image 3" descr="preencoded.png">
            <a:extLst>
              <a:ext uri="{FF2B5EF4-FFF2-40B4-BE49-F238E27FC236}">
                <a16:creationId xmlns:a16="http://schemas.microsoft.com/office/drawing/2014/main" id="{CADFF9AB-DE6B-4C33-F1F4-692945674DA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9080" y="4097416"/>
            <a:ext cx="434102" cy="434102"/>
          </a:xfrm>
          <a:prstGeom prst="rect">
            <a:avLst/>
          </a:prstGeom>
        </p:spPr>
      </p:pic>
      <p:sp>
        <p:nvSpPr>
          <p:cNvPr id="12" name="Text 6">
            <a:extLst>
              <a:ext uri="{FF2B5EF4-FFF2-40B4-BE49-F238E27FC236}">
                <a16:creationId xmlns:a16="http://schemas.microsoft.com/office/drawing/2014/main" id="{2E742BA4-0AE2-701C-AF44-9965883B1841}"/>
              </a:ext>
            </a:extLst>
          </p:cNvPr>
          <p:cNvSpPr/>
          <p:nvPr/>
        </p:nvSpPr>
        <p:spPr>
          <a:xfrm>
            <a:off x="217289" y="4556758"/>
            <a:ext cx="2170748" cy="271224"/>
          </a:xfrm>
          <a:prstGeom prst="rect">
            <a:avLst/>
          </a:prstGeom>
          <a:noFill/>
          <a:ln/>
        </p:spPr>
        <p:txBody>
          <a:bodyPr wrap="none" lIns="0" tIns="0" rIns="0" bIns="0" rtlCol="0" anchor="t"/>
          <a:lstStyle/>
          <a:p>
            <a:pPr marL="0" indent="0" algn="l">
              <a:lnSpc>
                <a:spcPts val="2100"/>
              </a:lnSpc>
              <a:buNone/>
            </a:pPr>
            <a:r>
              <a:rPr lang="en-US" sz="1700" dirty="0">
                <a:latin typeface="Instrument Sans Medium" pitchFamily="34" charset="0"/>
                <a:ea typeface="Instrument Sans Medium" pitchFamily="34" charset="-122"/>
                <a:cs typeface="Instrument Sans Medium" pitchFamily="34" charset="-120"/>
              </a:rPr>
              <a:t>Comunicaciones</a:t>
            </a:r>
            <a:endParaRPr lang="en-US" sz="1700" dirty="0"/>
          </a:p>
        </p:txBody>
      </p:sp>
      <p:sp>
        <p:nvSpPr>
          <p:cNvPr id="13" name="Text 7">
            <a:extLst>
              <a:ext uri="{FF2B5EF4-FFF2-40B4-BE49-F238E27FC236}">
                <a16:creationId xmlns:a16="http://schemas.microsoft.com/office/drawing/2014/main" id="{F549AA2A-0274-D3A1-CCB6-16EBA3ABB496}"/>
              </a:ext>
            </a:extLst>
          </p:cNvPr>
          <p:cNvSpPr/>
          <p:nvPr/>
        </p:nvSpPr>
        <p:spPr>
          <a:xfrm>
            <a:off x="207764" y="4790003"/>
            <a:ext cx="6907411" cy="245269"/>
          </a:xfrm>
          <a:prstGeom prst="rect">
            <a:avLst/>
          </a:prstGeom>
          <a:noFill/>
          <a:ln/>
        </p:spPr>
        <p:txBody>
          <a:bodyPr wrap="none" lIns="0" tIns="0" rIns="0" bIns="0" rtlCol="0" anchor="t"/>
          <a:lstStyle/>
          <a:p>
            <a:pPr marL="0" indent="0" algn="l">
              <a:lnSpc>
                <a:spcPts val="1900"/>
              </a:lnSpc>
              <a:buNone/>
            </a:pPr>
            <a:r>
              <a:rPr lang="en-US" sz="1350" dirty="0">
                <a:latin typeface="Open Sans" pitchFamily="34" charset="0"/>
                <a:ea typeface="Open Sans" pitchFamily="34" charset="-122"/>
                <a:cs typeface="Open Sans" pitchFamily="34" charset="-120"/>
              </a:rPr>
              <a:t>Gestión de medios, comunicación a clientes afectados y protección reputacional.</a:t>
            </a:r>
            <a:endParaRPr lang="en-US" sz="1350" dirty="0"/>
          </a:p>
        </p:txBody>
      </p:sp>
      <p:pic>
        <p:nvPicPr>
          <p:cNvPr id="14" name="Image 4" descr="preencoded.png">
            <a:extLst>
              <a:ext uri="{FF2B5EF4-FFF2-40B4-BE49-F238E27FC236}">
                <a16:creationId xmlns:a16="http://schemas.microsoft.com/office/drawing/2014/main" id="{678AEE15-D629-7746-54AC-F712755E6C9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4439" y="5194098"/>
            <a:ext cx="434102" cy="434102"/>
          </a:xfrm>
          <a:prstGeom prst="rect">
            <a:avLst/>
          </a:prstGeom>
        </p:spPr>
      </p:pic>
      <p:sp>
        <p:nvSpPr>
          <p:cNvPr id="15" name="Text 8">
            <a:extLst>
              <a:ext uri="{FF2B5EF4-FFF2-40B4-BE49-F238E27FC236}">
                <a16:creationId xmlns:a16="http://schemas.microsoft.com/office/drawing/2014/main" id="{EED1A190-3682-9FB9-0737-5A78627A6B7C}"/>
              </a:ext>
            </a:extLst>
          </p:cNvPr>
          <p:cNvSpPr/>
          <p:nvPr/>
        </p:nvSpPr>
        <p:spPr>
          <a:xfrm>
            <a:off x="217289" y="5634038"/>
            <a:ext cx="2170748" cy="271224"/>
          </a:xfrm>
          <a:prstGeom prst="rect">
            <a:avLst/>
          </a:prstGeom>
          <a:noFill/>
          <a:ln/>
        </p:spPr>
        <p:txBody>
          <a:bodyPr wrap="none" lIns="0" tIns="0" rIns="0" bIns="0" rtlCol="0" anchor="t"/>
          <a:lstStyle/>
          <a:p>
            <a:pPr marL="0" indent="0" algn="l">
              <a:lnSpc>
                <a:spcPts val="2100"/>
              </a:lnSpc>
              <a:buNone/>
            </a:pPr>
            <a:r>
              <a:rPr lang="en-US" sz="1700" dirty="0">
                <a:latin typeface="Instrument Sans Medium" pitchFamily="34" charset="0"/>
                <a:ea typeface="Instrument Sans Medium" pitchFamily="34" charset="-122"/>
                <a:cs typeface="Instrument Sans Medium" pitchFamily="34" charset="-120"/>
              </a:rPr>
              <a:t>Riesgos / CISO</a:t>
            </a:r>
            <a:endParaRPr lang="en-US" sz="1700" dirty="0"/>
          </a:p>
        </p:txBody>
      </p:sp>
      <p:sp>
        <p:nvSpPr>
          <p:cNvPr id="16" name="Text 9">
            <a:extLst>
              <a:ext uri="{FF2B5EF4-FFF2-40B4-BE49-F238E27FC236}">
                <a16:creationId xmlns:a16="http://schemas.microsoft.com/office/drawing/2014/main" id="{5F17DABF-04A5-BFFF-6C5D-F8B058B1019F}"/>
              </a:ext>
            </a:extLst>
          </p:cNvPr>
          <p:cNvSpPr/>
          <p:nvPr/>
        </p:nvSpPr>
        <p:spPr>
          <a:xfrm>
            <a:off x="217289" y="5937525"/>
            <a:ext cx="7031236" cy="245269"/>
          </a:xfrm>
          <a:prstGeom prst="rect">
            <a:avLst/>
          </a:prstGeom>
          <a:noFill/>
          <a:ln/>
        </p:spPr>
        <p:txBody>
          <a:bodyPr wrap="none" lIns="0" tIns="0" rIns="0" bIns="0" rtlCol="0" anchor="t"/>
          <a:lstStyle/>
          <a:p>
            <a:pPr marL="0" indent="0" algn="l">
              <a:lnSpc>
                <a:spcPts val="1900"/>
              </a:lnSpc>
              <a:buNone/>
            </a:pPr>
            <a:r>
              <a:rPr lang="en-US" sz="1350" dirty="0">
                <a:latin typeface="Open Sans" pitchFamily="34" charset="0"/>
                <a:ea typeface="Open Sans" pitchFamily="34" charset="-122"/>
                <a:cs typeface="Open Sans" pitchFamily="34" charset="-120"/>
              </a:rPr>
              <a:t>Activación BCP/DRP, aislamiento de sistemas, coordinación técnica y </a:t>
            </a:r>
            <a:r>
              <a:rPr lang="en-US" sz="1350" dirty="0" err="1">
                <a:latin typeface="Open Sans" pitchFamily="34" charset="0"/>
                <a:ea typeface="Open Sans" pitchFamily="34" charset="-122"/>
                <a:cs typeface="Open Sans" pitchFamily="34" charset="-120"/>
              </a:rPr>
              <a:t>reporte</a:t>
            </a:r>
            <a:r>
              <a:rPr lang="en-US" sz="1350" dirty="0">
                <a:latin typeface="Open Sans" pitchFamily="34" charset="0"/>
                <a:ea typeface="Open Sans" pitchFamily="34" charset="-122"/>
                <a:cs typeface="Open Sans" pitchFamily="34" charset="-120"/>
              </a:rPr>
              <a:t> </a:t>
            </a:r>
          </a:p>
          <a:p>
            <a:pPr marL="0" indent="0" algn="l">
              <a:lnSpc>
                <a:spcPts val="1900"/>
              </a:lnSpc>
              <a:buNone/>
            </a:pPr>
            <a:r>
              <a:rPr lang="en-US" sz="1350" dirty="0">
                <a:latin typeface="Open Sans" pitchFamily="34" charset="0"/>
                <a:ea typeface="Open Sans" pitchFamily="34" charset="-122"/>
                <a:cs typeface="Open Sans" pitchFamily="34" charset="-120"/>
              </a:rPr>
              <a:t>al Comité de Crisis.</a:t>
            </a:r>
            <a:endParaRPr lang="en-US" sz="1350" dirty="0"/>
          </a:p>
        </p:txBody>
      </p:sp>
    </p:spTree>
    <p:extLst>
      <p:ext uri="{BB962C8B-B14F-4D97-AF65-F5344CB8AC3E}">
        <p14:creationId xmlns:p14="http://schemas.microsoft.com/office/powerpoint/2010/main" val="1944692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D380954-9F4A-3D09-FBCD-C93124B6074E}"/>
              </a:ext>
            </a:extLst>
          </p:cNvPr>
          <p:cNvPicPr>
            <a:picLocks noChangeAspect="1"/>
          </p:cNvPicPr>
          <p:nvPr/>
        </p:nvPicPr>
        <p:blipFill>
          <a:blip r:embed="rId2"/>
          <a:stretch>
            <a:fillRect/>
          </a:stretch>
        </p:blipFill>
        <p:spPr>
          <a:xfrm>
            <a:off x="6096000" y="2058073"/>
            <a:ext cx="5790843" cy="3281404"/>
          </a:xfrm>
          <a:prstGeom prst="rect">
            <a:avLst/>
          </a:prstGeom>
        </p:spPr>
      </p:pic>
      <p:sp>
        <p:nvSpPr>
          <p:cNvPr id="3" name="Text 0">
            <a:extLst>
              <a:ext uri="{FF2B5EF4-FFF2-40B4-BE49-F238E27FC236}">
                <a16:creationId xmlns:a16="http://schemas.microsoft.com/office/drawing/2014/main" id="{91D56BD1-6E70-A185-AF1A-EF6315352A0A}"/>
              </a:ext>
            </a:extLst>
          </p:cNvPr>
          <p:cNvSpPr/>
          <p:nvPr/>
        </p:nvSpPr>
        <p:spPr>
          <a:xfrm>
            <a:off x="486251" y="331708"/>
            <a:ext cx="5609749" cy="531614"/>
          </a:xfrm>
          <a:prstGeom prst="rect">
            <a:avLst/>
          </a:prstGeom>
          <a:noFill/>
          <a:ln/>
        </p:spPr>
        <p:txBody>
          <a:bodyPr wrap="none" lIns="0" tIns="0" rIns="0" bIns="0" rtlCol="0" anchor="t"/>
          <a:lstStyle/>
          <a:p>
            <a:pPr marL="0" indent="0" algn="l">
              <a:lnSpc>
                <a:spcPts val="4150"/>
              </a:lnSpc>
              <a:buNone/>
            </a:pPr>
            <a:r>
              <a:rPr lang="en-US" sz="3300" dirty="0">
                <a:latin typeface="Instrument Sans Medium" pitchFamily="34" charset="0"/>
                <a:ea typeface="Instrument Sans Medium" pitchFamily="34" charset="-122"/>
                <a:cs typeface="Instrument Sans Medium" pitchFamily="34" charset="-120"/>
              </a:rPr>
              <a:t>Lo que Obtiene Seguros Alfa</a:t>
            </a:r>
            <a:endParaRPr lang="en-US" sz="3300" dirty="0"/>
          </a:p>
        </p:txBody>
      </p:sp>
      <p:sp>
        <p:nvSpPr>
          <p:cNvPr id="4" name="Shape 1">
            <a:extLst>
              <a:ext uri="{FF2B5EF4-FFF2-40B4-BE49-F238E27FC236}">
                <a16:creationId xmlns:a16="http://schemas.microsoft.com/office/drawing/2014/main" id="{AEBB5406-4E52-A9EB-603C-BC9FF2FA4D63}"/>
              </a:ext>
            </a:extLst>
          </p:cNvPr>
          <p:cNvSpPr/>
          <p:nvPr/>
        </p:nvSpPr>
        <p:spPr>
          <a:xfrm>
            <a:off x="1446014" y="990838"/>
            <a:ext cx="3838575" cy="1310164"/>
          </a:xfrm>
          <a:prstGeom prst="roundRect">
            <a:avLst>
              <a:gd name="adj" fmla="val 1709"/>
            </a:avLst>
          </a:prstGeom>
          <a:solidFill>
            <a:srgbClr val="1F1F1F"/>
          </a:solidFill>
          <a:ln w="22860">
            <a:solidFill>
              <a:srgbClr val="575757"/>
            </a:solidFill>
            <a:prstDash val="solid"/>
          </a:ln>
        </p:spPr>
      </p:sp>
      <p:sp>
        <p:nvSpPr>
          <p:cNvPr id="5" name="Shape 6">
            <a:extLst>
              <a:ext uri="{FF2B5EF4-FFF2-40B4-BE49-F238E27FC236}">
                <a16:creationId xmlns:a16="http://schemas.microsoft.com/office/drawing/2014/main" id="{0D204F77-6D76-5BDA-E338-DE713D906D3E}"/>
              </a:ext>
            </a:extLst>
          </p:cNvPr>
          <p:cNvSpPr/>
          <p:nvPr/>
        </p:nvSpPr>
        <p:spPr>
          <a:xfrm>
            <a:off x="1446014" y="2505075"/>
            <a:ext cx="3838575" cy="1416844"/>
          </a:xfrm>
          <a:prstGeom prst="roundRect">
            <a:avLst>
              <a:gd name="adj" fmla="val 1709"/>
            </a:avLst>
          </a:prstGeom>
          <a:solidFill>
            <a:srgbClr val="1F1F1F"/>
          </a:solidFill>
          <a:ln w="22860">
            <a:solidFill>
              <a:srgbClr val="575757"/>
            </a:solidFill>
            <a:prstDash val="solid"/>
          </a:ln>
        </p:spPr>
      </p:sp>
      <p:sp>
        <p:nvSpPr>
          <p:cNvPr id="6" name="Shape 11">
            <a:extLst>
              <a:ext uri="{FF2B5EF4-FFF2-40B4-BE49-F238E27FC236}">
                <a16:creationId xmlns:a16="http://schemas.microsoft.com/office/drawing/2014/main" id="{6D7D001C-3153-9A1C-7AEC-C132B2ECAA4E}"/>
              </a:ext>
            </a:extLst>
          </p:cNvPr>
          <p:cNvSpPr/>
          <p:nvPr/>
        </p:nvSpPr>
        <p:spPr>
          <a:xfrm>
            <a:off x="1475659" y="4125991"/>
            <a:ext cx="3838575" cy="1178719"/>
          </a:xfrm>
          <a:prstGeom prst="roundRect">
            <a:avLst>
              <a:gd name="adj" fmla="val 2033"/>
            </a:avLst>
          </a:prstGeom>
          <a:solidFill>
            <a:srgbClr val="1F1F1F"/>
          </a:solidFill>
          <a:ln w="22860">
            <a:solidFill>
              <a:srgbClr val="575757"/>
            </a:solidFill>
            <a:prstDash val="solid"/>
          </a:ln>
        </p:spPr>
      </p:sp>
      <p:sp>
        <p:nvSpPr>
          <p:cNvPr id="7" name="Shape 16">
            <a:extLst>
              <a:ext uri="{FF2B5EF4-FFF2-40B4-BE49-F238E27FC236}">
                <a16:creationId xmlns:a16="http://schemas.microsoft.com/office/drawing/2014/main" id="{A705B144-FCDA-0E8D-3D64-C0D078AA1AD5}"/>
              </a:ext>
            </a:extLst>
          </p:cNvPr>
          <p:cNvSpPr/>
          <p:nvPr/>
        </p:nvSpPr>
        <p:spPr>
          <a:xfrm>
            <a:off x="1446014" y="5432228"/>
            <a:ext cx="3838575" cy="1255276"/>
          </a:xfrm>
          <a:prstGeom prst="roundRect">
            <a:avLst>
              <a:gd name="adj" fmla="val 1709"/>
            </a:avLst>
          </a:prstGeom>
          <a:solidFill>
            <a:srgbClr val="1F1F1F"/>
          </a:solidFill>
          <a:ln w="22860">
            <a:solidFill>
              <a:srgbClr val="575757"/>
            </a:solidFill>
            <a:prstDash val="solid"/>
          </a:ln>
        </p:spPr>
      </p:sp>
      <p:sp>
        <p:nvSpPr>
          <p:cNvPr id="8" name="Shape 2">
            <a:extLst>
              <a:ext uri="{FF2B5EF4-FFF2-40B4-BE49-F238E27FC236}">
                <a16:creationId xmlns:a16="http://schemas.microsoft.com/office/drawing/2014/main" id="{56CB3F9A-E50B-F8D0-8EE8-E52743B8E8D4}"/>
              </a:ext>
            </a:extLst>
          </p:cNvPr>
          <p:cNvSpPr/>
          <p:nvPr/>
        </p:nvSpPr>
        <p:spPr>
          <a:xfrm>
            <a:off x="1446014" y="976253"/>
            <a:ext cx="680442" cy="1310165"/>
          </a:xfrm>
          <a:prstGeom prst="rect">
            <a:avLst/>
          </a:prstGeom>
          <a:solidFill>
            <a:srgbClr val="3E3E3E"/>
          </a:solidFill>
          <a:ln/>
        </p:spPr>
      </p:sp>
      <p:sp>
        <p:nvSpPr>
          <p:cNvPr id="9" name="Shape 2">
            <a:extLst>
              <a:ext uri="{FF2B5EF4-FFF2-40B4-BE49-F238E27FC236}">
                <a16:creationId xmlns:a16="http://schemas.microsoft.com/office/drawing/2014/main" id="{EA19E864-411A-9D53-1504-82F6A6290461}"/>
              </a:ext>
            </a:extLst>
          </p:cNvPr>
          <p:cNvSpPr/>
          <p:nvPr/>
        </p:nvSpPr>
        <p:spPr>
          <a:xfrm>
            <a:off x="1446013" y="2503644"/>
            <a:ext cx="680442" cy="1416845"/>
          </a:xfrm>
          <a:prstGeom prst="rect">
            <a:avLst/>
          </a:prstGeom>
          <a:solidFill>
            <a:srgbClr val="3E3E3E"/>
          </a:solidFill>
          <a:ln/>
        </p:spPr>
      </p:sp>
      <p:sp>
        <p:nvSpPr>
          <p:cNvPr id="10" name="Shape 2">
            <a:extLst>
              <a:ext uri="{FF2B5EF4-FFF2-40B4-BE49-F238E27FC236}">
                <a16:creationId xmlns:a16="http://schemas.microsoft.com/office/drawing/2014/main" id="{83B2AA3C-4B07-4A8D-DAD5-1C27EB40157D}"/>
              </a:ext>
            </a:extLst>
          </p:cNvPr>
          <p:cNvSpPr/>
          <p:nvPr/>
        </p:nvSpPr>
        <p:spPr>
          <a:xfrm>
            <a:off x="1446014" y="4125991"/>
            <a:ext cx="680442" cy="1178719"/>
          </a:xfrm>
          <a:prstGeom prst="rect">
            <a:avLst/>
          </a:prstGeom>
          <a:solidFill>
            <a:srgbClr val="3E3E3E"/>
          </a:solidFill>
          <a:ln/>
        </p:spPr>
      </p:sp>
      <p:sp>
        <p:nvSpPr>
          <p:cNvPr id="11" name="Shape 2">
            <a:extLst>
              <a:ext uri="{FF2B5EF4-FFF2-40B4-BE49-F238E27FC236}">
                <a16:creationId xmlns:a16="http://schemas.microsoft.com/office/drawing/2014/main" id="{EFFCD511-7090-535A-7403-E49487A2D00C}"/>
              </a:ext>
            </a:extLst>
          </p:cNvPr>
          <p:cNvSpPr/>
          <p:nvPr/>
        </p:nvSpPr>
        <p:spPr>
          <a:xfrm>
            <a:off x="1446014" y="5432229"/>
            <a:ext cx="680442" cy="1255276"/>
          </a:xfrm>
          <a:prstGeom prst="rect">
            <a:avLst/>
          </a:prstGeom>
          <a:solidFill>
            <a:srgbClr val="3E3E3E"/>
          </a:solidFill>
          <a:ln/>
        </p:spPr>
      </p:sp>
      <p:sp>
        <p:nvSpPr>
          <p:cNvPr id="12" name="Text 3">
            <a:extLst>
              <a:ext uri="{FF2B5EF4-FFF2-40B4-BE49-F238E27FC236}">
                <a16:creationId xmlns:a16="http://schemas.microsoft.com/office/drawing/2014/main" id="{CFC43820-9EEF-637A-180B-D33F092DCB3D}"/>
              </a:ext>
            </a:extLst>
          </p:cNvPr>
          <p:cNvSpPr/>
          <p:nvPr/>
        </p:nvSpPr>
        <p:spPr>
          <a:xfrm>
            <a:off x="1691045" y="1566031"/>
            <a:ext cx="232290" cy="318968"/>
          </a:xfrm>
          <a:prstGeom prst="rect">
            <a:avLst/>
          </a:prstGeom>
          <a:noFill/>
          <a:ln/>
        </p:spPr>
        <p:txBody>
          <a:bodyPr wrap="none" lIns="0" tIns="0" rIns="0" bIns="0" rtlCol="0" anchor="t"/>
          <a:lstStyle/>
          <a:p>
            <a:pPr marL="0" indent="0" algn="l">
              <a:lnSpc>
                <a:spcPts val="2000"/>
              </a:lnSpc>
              <a:buNone/>
            </a:pPr>
            <a:r>
              <a:rPr lang="en-US" sz="2000" dirty="0">
                <a:solidFill>
                  <a:srgbClr val="BFBFBF"/>
                </a:solidFill>
                <a:latin typeface="Instrument Sans Medium" pitchFamily="34" charset="0"/>
                <a:ea typeface="Instrument Sans Medium" pitchFamily="34" charset="-122"/>
                <a:cs typeface="Instrument Sans Medium" pitchFamily="34" charset="-120"/>
              </a:rPr>
              <a:t>1</a:t>
            </a:r>
            <a:endParaRPr lang="en-US" sz="2000" dirty="0"/>
          </a:p>
        </p:txBody>
      </p:sp>
      <p:sp>
        <p:nvSpPr>
          <p:cNvPr id="13" name="Text 8">
            <a:extLst>
              <a:ext uri="{FF2B5EF4-FFF2-40B4-BE49-F238E27FC236}">
                <a16:creationId xmlns:a16="http://schemas.microsoft.com/office/drawing/2014/main" id="{8996E187-85EE-E609-016A-62BBE5579D7A}"/>
              </a:ext>
            </a:extLst>
          </p:cNvPr>
          <p:cNvSpPr/>
          <p:nvPr/>
        </p:nvSpPr>
        <p:spPr>
          <a:xfrm>
            <a:off x="1696759" y="3111163"/>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BFBFBF"/>
                </a:solidFill>
                <a:latin typeface="Instrument Sans Medium" pitchFamily="34" charset="0"/>
                <a:ea typeface="Instrument Sans Medium" pitchFamily="34" charset="-122"/>
                <a:cs typeface="Instrument Sans Medium" pitchFamily="34" charset="-120"/>
              </a:rPr>
              <a:t>2</a:t>
            </a:r>
            <a:endParaRPr lang="en-US" sz="2000" dirty="0"/>
          </a:p>
        </p:txBody>
      </p:sp>
      <p:sp>
        <p:nvSpPr>
          <p:cNvPr id="14" name="Text 13">
            <a:extLst>
              <a:ext uri="{FF2B5EF4-FFF2-40B4-BE49-F238E27FC236}">
                <a16:creationId xmlns:a16="http://schemas.microsoft.com/office/drawing/2014/main" id="{AA634E51-C878-FEC5-7017-FB0A9BDC8A56}"/>
              </a:ext>
            </a:extLst>
          </p:cNvPr>
          <p:cNvSpPr/>
          <p:nvPr/>
        </p:nvSpPr>
        <p:spPr>
          <a:xfrm>
            <a:off x="1681520" y="4574738"/>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BFBFBF"/>
                </a:solidFill>
                <a:latin typeface="Instrument Sans Medium" pitchFamily="34" charset="0"/>
                <a:ea typeface="Instrument Sans Medium" pitchFamily="34" charset="-122"/>
                <a:cs typeface="Instrument Sans Medium" pitchFamily="34" charset="-120"/>
              </a:rPr>
              <a:t>3</a:t>
            </a:r>
            <a:endParaRPr lang="en-US" sz="2000" dirty="0"/>
          </a:p>
        </p:txBody>
      </p:sp>
      <p:sp>
        <p:nvSpPr>
          <p:cNvPr id="15" name="Text 18">
            <a:extLst>
              <a:ext uri="{FF2B5EF4-FFF2-40B4-BE49-F238E27FC236}">
                <a16:creationId xmlns:a16="http://schemas.microsoft.com/office/drawing/2014/main" id="{0795DD71-95D6-070C-7B7C-4116CE296691}"/>
              </a:ext>
            </a:extLst>
          </p:cNvPr>
          <p:cNvSpPr/>
          <p:nvPr/>
        </p:nvSpPr>
        <p:spPr>
          <a:xfrm>
            <a:off x="1681520" y="5933718"/>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BFBFBF"/>
                </a:solidFill>
                <a:latin typeface="Instrument Sans Medium" pitchFamily="34" charset="0"/>
                <a:ea typeface="Instrument Sans Medium" pitchFamily="34" charset="-122"/>
                <a:cs typeface="Instrument Sans Medium" pitchFamily="34" charset="-120"/>
              </a:rPr>
              <a:t>4</a:t>
            </a:r>
            <a:endParaRPr lang="en-US" sz="2000" dirty="0"/>
          </a:p>
        </p:txBody>
      </p:sp>
      <p:sp>
        <p:nvSpPr>
          <p:cNvPr id="16" name="Text 4">
            <a:extLst>
              <a:ext uri="{FF2B5EF4-FFF2-40B4-BE49-F238E27FC236}">
                <a16:creationId xmlns:a16="http://schemas.microsoft.com/office/drawing/2014/main" id="{ECF1835C-3F3B-EE48-DAF7-8F38386D7E6C}"/>
              </a:ext>
            </a:extLst>
          </p:cNvPr>
          <p:cNvSpPr/>
          <p:nvPr/>
        </p:nvSpPr>
        <p:spPr>
          <a:xfrm>
            <a:off x="2642294" y="1067394"/>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BFBFBF"/>
                </a:solidFill>
                <a:latin typeface="Instrument Sans Medium" pitchFamily="34" charset="0"/>
                <a:ea typeface="Instrument Sans Medium" pitchFamily="34" charset="-122"/>
                <a:cs typeface="Instrument Sans Medium" pitchFamily="34" charset="-120"/>
              </a:rPr>
              <a:t>Validar BCP/DRP</a:t>
            </a:r>
            <a:endParaRPr lang="en-US" sz="1650" dirty="0"/>
          </a:p>
        </p:txBody>
      </p:sp>
      <p:sp>
        <p:nvSpPr>
          <p:cNvPr id="17" name="Text 5">
            <a:extLst>
              <a:ext uri="{FF2B5EF4-FFF2-40B4-BE49-F238E27FC236}">
                <a16:creationId xmlns:a16="http://schemas.microsoft.com/office/drawing/2014/main" id="{23AA8C33-30A5-E6EB-24CA-B31140FA7ECD}"/>
              </a:ext>
            </a:extLst>
          </p:cNvPr>
          <p:cNvSpPr/>
          <p:nvPr/>
        </p:nvSpPr>
        <p:spPr>
          <a:xfrm>
            <a:off x="2298084" y="1423094"/>
            <a:ext cx="2814876" cy="714375"/>
          </a:xfrm>
          <a:prstGeom prst="rect">
            <a:avLst/>
          </a:prstGeom>
          <a:noFill/>
          <a:ln/>
        </p:spPr>
        <p:txBody>
          <a:bodyPr wrap="square" lIns="0" tIns="0" rIns="0" bIns="0" rtlCol="0" anchor="t"/>
          <a:lstStyle/>
          <a:p>
            <a:pPr marL="0" indent="0" algn="l">
              <a:lnSpc>
                <a:spcPts val="1850"/>
              </a:lnSpc>
              <a:buNone/>
            </a:pPr>
            <a:r>
              <a:rPr lang="en-US" sz="1300" dirty="0">
                <a:solidFill>
                  <a:srgbClr val="BFBFBF"/>
                </a:solidFill>
                <a:latin typeface="Open Sans" pitchFamily="34" charset="0"/>
                <a:ea typeface="Open Sans" pitchFamily="34" charset="-122"/>
                <a:cs typeface="Open Sans" pitchFamily="34" charset="-120"/>
              </a:rPr>
              <a:t>Verificar la efectividad real del plan de continuidad y recuperación ante desastres.</a:t>
            </a:r>
            <a:endParaRPr lang="en-US" sz="1300" dirty="0"/>
          </a:p>
        </p:txBody>
      </p:sp>
      <p:sp>
        <p:nvSpPr>
          <p:cNvPr id="18" name="Text 9">
            <a:extLst>
              <a:ext uri="{FF2B5EF4-FFF2-40B4-BE49-F238E27FC236}">
                <a16:creationId xmlns:a16="http://schemas.microsoft.com/office/drawing/2014/main" id="{394A884D-2294-DF21-4D75-B6276CE4147A}"/>
              </a:ext>
            </a:extLst>
          </p:cNvPr>
          <p:cNvSpPr/>
          <p:nvPr/>
        </p:nvSpPr>
        <p:spPr>
          <a:xfrm>
            <a:off x="2642294" y="2592347"/>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BFBFBF"/>
                </a:solidFill>
                <a:latin typeface="Instrument Sans Medium" pitchFamily="34" charset="0"/>
                <a:ea typeface="Instrument Sans Medium" pitchFamily="34" charset="-122"/>
                <a:cs typeface="Instrument Sans Medium" pitchFamily="34" charset="-120"/>
              </a:rPr>
              <a:t>Brechas directivas</a:t>
            </a:r>
            <a:endParaRPr lang="en-US" sz="1650" dirty="0"/>
          </a:p>
        </p:txBody>
      </p:sp>
      <p:sp>
        <p:nvSpPr>
          <p:cNvPr id="19" name="Text 10">
            <a:extLst>
              <a:ext uri="{FF2B5EF4-FFF2-40B4-BE49-F238E27FC236}">
                <a16:creationId xmlns:a16="http://schemas.microsoft.com/office/drawing/2014/main" id="{1F09E5E2-A1CB-79A1-BAFC-38CF9C6849B5}"/>
              </a:ext>
            </a:extLst>
          </p:cNvPr>
          <p:cNvSpPr/>
          <p:nvPr/>
        </p:nvSpPr>
        <p:spPr>
          <a:xfrm>
            <a:off x="2321300" y="2945366"/>
            <a:ext cx="2814876" cy="714375"/>
          </a:xfrm>
          <a:prstGeom prst="rect">
            <a:avLst/>
          </a:prstGeom>
          <a:noFill/>
          <a:ln/>
        </p:spPr>
        <p:txBody>
          <a:bodyPr wrap="square" lIns="0" tIns="0" rIns="0" bIns="0" rtlCol="0" anchor="t"/>
          <a:lstStyle/>
          <a:p>
            <a:pPr marL="0" indent="0" algn="l">
              <a:lnSpc>
                <a:spcPts val="1850"/>
              </a:lnSpc>
              <a:buNone/>
            </a:pPr>
            <a:r>
              <a:rPr lang="en-US" sz="1300" dirty="0">
                <a:solidFill>
                  <a:srgbClr val="BFBFBF"/>
                </a:solidFill>
                <a:latin typeface="Open Sans" pitchFamily="34" charset="0"/>
                <a:ea typeface="Open Sans" pitchFamily="34" charset="-122"/>
                <a:cs typeface="Open Sans" pitchFamily="34" charset="-120"/>
              </a:rPr>
              <a:t>Identificar fallas en la toma de decisiones bajo presión del equipo directivo.</a:t>
            </a:r>
            <a:endParaRPr lang="en-US" sz="1300" dirty="0"/>
          </a:p>
        </p:txBody>
      </p:sp>
      <p:sp>
        <p:nvSpPr>
          <p:cNvPr id="20" name="Text 14">
            <a:extLst>
              <a:ext uri="{FF2B5EF4-FFF2-40B4-BE49-F238E27FC236}">
                <a16:creationId xmlns:a16="http://schemas.microsoft.com/office/drawing/2014/main" id="{4ADED918-01F9-A017-42F6-903B6546887A}"/>
              </a:ext>
            </a:extLst>
          </p:cNvPr>
          <p:cNvSpPr/>
          <p:nvPr/>
        </p:nvSpPr>
        <p:spPr>
          <a:xfrm>
            <a:off x="2632769" y="4229336"/>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BFBFBF"/>
                </a:solidFill>
                <a:latin typeface="Instrument Sans Medium" pitchFamily="34" charset="0"/>
                <a:ea typeface="Instrument Sans Medium" pitchFamily="34" charset="-122"/>
                <a:cs typeface="Instrument Sans Medium" pitchFamily="34" charset="-120"/>
              </a:rPr>
              <a:t>Cumplimiento SFC</a:t>
            </a:r>
            <a:endParaRPr lang="en-US" sz="1650" dirty="0"/>
          </a:p>
        </p:txBody>
      </p:sp>
      <p:sp>
        <p:nvSpPr>
          <p:cNvPr id="21" name="Text 15">
            <a:extLst>
              <a:ext uri="{FF2B5EF4-FFF2-40B4-BE49-F238E27FC236}">
                <a16:creationId xmlns:a16="http://schemas.microsoft.com/office/drawing/2014/main" id="{F9797FB9-9DE4-0B95-70A8-20F24C7C8E63}"/>
              </a:ext>
            </a:extLst>
          </p:cNvPr>
          <p:cNvSpPr/>
          <p:nvPr/>
        </p:nvSpPr>
        <p:spPr>
          <a:xfrm>
            <a:off x="2288559" y="4622601"/>
            <a:ext cx="2814876" cy="476250"/>
          </a:xfrm>
          <a:prstGeom prst="rect">
            <a:avLst/>
          </a:prstGeom>
          <a:noFill/>
          <a:ln/>
        </p:spPr>
        <p:txBody>
          <a:bodyPr wrap="square" lIns="0" tIns="0" rIns="0" bIns="0" rtlCol="0" anchor="t"/>
          <a:lstStyle/>
          <a:p>
            <a:pPr marL="0" indent="0" algn="l">
              <a:lnSpc>
                <a:spcPts val="1850"/>
              </a:lnSpc>
              <a:buNone/>
            </a:pPr>
            <a:r>
              <a:rPr lang="en-US" sz="1300" dirty="0">
                <a:solidFill>
                  <a:srgbClr val="BFBFBF"/>
                </a:solidFill>
                <a:latin typeface="Open Sans" pitchFamily="34" charset="0"/>
                <a:ea typeface="Open Sans" pitchFamily="34" charset="-122"/>
                <a:cs typeface="Open Sans" pitchFamily="34" charset="-120"/>
              </a:rPr>
              <a:t>Verificar protocolos de notificación a la SFC e Instrucción SARLAFT.</a:t>
            </a:r>
            <a:endParaRPr lang="en-US" sz="1300" dirty="0"/>
          </a:p>
        </p:txBody>
      </p:sp>
      <p:sp>
        <p:nvSpPr>
          <p:cNvPr id="22" name="Text 19">
            <a:extLst>
              <a:ext uri="{FF2B5EF4-FFF2-40B4-BE49-F238E27FC236}">
                <a16:creationId xmlns:a16="http://schemas.microsoft.com/office/drawing/2014/main" id="{F480A492-6008-6D1D-4DDC-62247BA91872}"/>
              </a:ext>
            </a:extLst>
          </p:cNvPr>
          <p:cNvSpPr/>
          <p:nvPr/>
        </p:nvSpPr>
        <p:spPr>
          <a:xfrm>
            <a:off x="2505432" y="5539859"/>
            <a:ext cx="2184202" cy="265747"/>
          </a:xfrm>
          <a:prstGeom prst="rect">
            <a:avLst/>
          </a:prstGeom>
          <a:noFill/>
          <a:ln/>
        </p:spPr>
        <p:txBody>
          <a:bodyPr wrap="none" lIns="0" tIns="0" rIns="0" bIns="0" rtlCol="0" anchor="t"/>
          <a:lstStyle/>
          <a:p>
            <a:pPr marL="0" indent="0" algn="l">
              <a:lnSpc>
                <a:spcPts val="2050"/>
              </a:lnSpc>
              <a:buNone/>
            </a:pPr>
            <a:r>
              <a:rPr lang="en-US" sz="1650" dirty="0">
                <a:solidFill>
                  <a:srgbClr val="BFBFBF"/>
                </a:solidFill>
                <a:latin typeface="Instrument Sans Medium" pitchFamily="34" charset="0"/>
                <a:ea typeface="Instrument Sans Medium" pitchFamily="34" charset="-122"/>
                <a:cs typeface="Instrument Sans Medium" pitchFamily="34" charset="-120"/>
              </a:rPr>
              <a:t>Madurez NIST CSF 2.0</a:t>
            </a:r>
            <a:endParaRPr lang="en-US" sz="1650" dirty="0"/>
          </a:p>
        </p:txBody>
      </p:sp>
      <p:sp>
        <p:nvSpPr>
          <p:cNvPr id="23" name="Text 20">
            <a:extLst>
              <a:ext uri="{FF2B5EF4-FFF2-40B4-BE49-F238E27FC236}">
                <a16:creationId xmlns:a16="http://schemas.microsoft.com/office/drawing/2014/main" id="{5149334D-845E-6B38-3378-58286BCFC37F}"/>
              </a:ext>
            </a:extLst>
          </p:cNvPr>
          <p:cNvSpPr/>
          <p:nvPr/>
        </p:nvSpPr>
        <p:spPr>
          <a:xfrm>
            <a:off x="2361962" y="5867162"/>
            <a:ext cx="2814876" cy="714375"/>
          </a:xfrm>
          <a:prstGeom prst="rect">
            <a:avLst/>
          </a:prstGeom>
          <a:noFill/>
          <a:ln/>
        </p:spPr>
        <p:txBody>
          <a:bodyPr wrap="square" lIns="0" tIns="0" rIns="0" bIns="0" rtlCol="0" anchor="t"/>
          <a:lstStyle/>
          <a:p>
            <a:pPr marL="0" indent="0" algn="l">
              <a:lnSpc>
                <a:spcPts val="1850"/>
              </a:lnSpc>
              <a:buNone/>
            </a:pPr>
            <a:r>
              <a:rPr lang="en-US" sz="1300" dirty="0">
                <a:solidFill>
                  <a:srgbClr val="BFBFBF"/>
                </a:solidFill>
                <a:latin typeface="Open Sans" pitchFamily="34" charset="0"/>
                <a:ea typeface="Open Sans" pitchFamily="34" charset="-122"/>
                <a:cs typeface="Open Sans" pitchFamily="34" charset="-120"/>
              </a:rPr>
              <a:t>Generar métricas de madurez y construir memoria muscular para crisis reales.</a:t>
            </a:r>
            <a:endParaRPr lang="en-US" sz="1300" dirty="0"/>
          </a:p>
        </p:txBody>
      </p:sp>
    </p:spTree>
    <p:extLst>
      <p:ext uri="{BB962C8B-B14F-4D97-AF65-F5344CB8AC3E}">
        <p14:creationId xmlns:p14="http://schemas.microsoft.com/office/powerpoint/2010/main" val="2677009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F8073B9-4F3F-A369-6760-8BE5CCCDE5C4}"/>
              </a:ext>
            </a:extLst>
          </p:cNvPr>
          <p:cNvSpPr/>
          <p:nvPr/>
        </p:nvSpPr>
        <p:spPr>
          <a:xfrm>
            <a:off x="340400" y="374571"/>
            <a:ext cx="5493425" cy="686633"/>
          </a:xfrm>
          <a:prstGeom prst="rect">
            <a:avLst/>
          </a:prstGeom>
          <a:noFill/>
          <a:ln/>
        </p:spPr>
        <p:txBody>
          <a:bodyPr wrap="none" lIns="0" tIns="0" rIns="0" bIns="0" rtlCol="0" anchor="t"/>
          <a:lstStyle/>
          <a:p>
            <a:pPr marL="0" indent="0" algn="l">
              <a:lnSpc>
                <a:spcPts val="5400"/>
              </a:lnSpc>
              <a:buNone/>
            </a:pPr>
            <a:r>
              <a:rPr lang="en-US" sz="4300" dirty="0">
                <a:latin typeface="Instrument Sans Medium" pitchFamily="34" charset="0"/>
                <a:ea typeface="Instrument Sans Medium" pitchFamily="34" charset="-122"/>
                <a:cs typeface="Instrument Sans Medium" pitchFamily="34" charset="-120"/>
              </a:rPr>
              <a:t>Entregables Incluidos</a:t>
            </a:r>
            <a:endParaRPr lang="en-US" sz="4300" dirty="0"/>
          </a:p>
        </p:txBody>
      </p:sp>
      <p:sp>
        <p:nvSpPr>
          <p:cNvPr id="3" name="Shape 1">
            <a:extLst>
              <a:ext uri="{FF2B5EF4-FFF2-40B4-BE49-F238E27FC236}">
                <a16:creationId xmlns:a16="http://schemas.microsoft.com/office/drawing/2014/main" id="{79B32DDF-6DDD-506F-A102-C7E094EEA67B}"/>
              </a:ext>
            </a:extLst>
          </p:cNvPr>
          <p:cNvSpPr/>
          <p:nvPr/>
        </p:nvSpPr>
        <p:spPr>
          <a:xfrm>
            <a:off x="173590" y="1070727"/>
            <a:ext cx="4003000" cy="3291719"/>
          </a:xfrm>
          <a:prstGeom prst="roundRect">
            <a:avLst>
              <a:gd name="adj" fmla="val 1041"/>
            </a:avLst>
          </a:prstGeom>
          <a:solidFill>
            <a:srgbClr val="3E3E3E"/>
          </a:solidFill>
          <a:ln/>
        </p:spPr>
      </p:sp>
      <p:sp>
        <p:nvSpPr>
          <p:cNvPr id="4" name="Shape 5">
            <a:extLst>
              <a:ext uri="{FF2B5EF4-FFF2-40B4-BE49-F238E27FC236}">
                <a16:creationId xmlns:a16="http://schemas.microsoft.com/office/drawing/2014/main" id="{F1CE4794-12CA-50CE-FBFD-D83B9F6DDA3E}"/>
              </a:ext>
            </a:extLst>
          </p:cNvPr>
          <p:cNvSpPr/>
          <p:nvPr/>
        </p:nvSpPr>
        <p:spPr>
          <a:xfrm>
            <a:off x="4261546" y="1061202"/>
            <a:ext cx="4222313" cy="3291720"/>
          </a:xfrm>
          <a:prstGeom prst="roundRect">
            <a:avLst>
              <a:gd name="adj" fmla="val 1041"/>
            </a:avLst>
          </a:prstGeom>
          <a:solidFill>
            <a:srgbClr val="3E3E3E"/>
          </a:solidFill>
          <a:ln/>
        </p:spPr>
      </p:sp>
      <p:sp>
        <p:nvSpPr>
          <p:cNvPr id="5" name="Shape 9">
            <a:extLst>
              <a:ext uri="{FF2B5EF4-FFF2-40B4-BE49-F238E27FC236}">
                <a16:creationId xmlns:a16="http://schemas.microsoft.com/office/drawing/2014/main" id="{DCCF5972-E284-FB19-9B97-8A91E3292E05}"/>
              </a:ext>
            </a:extLst>
          </p:cNvPr>
          <p:cNvSpPr/>
          <p:nvPr/>
        </p:nvSpPr>
        <p:spPr>
          <a:xfrm>
            <a:off x="8537735" y="1061201"/>
            <a:ext cx="3478647" cy="3291721"/>
          </a:xfrm>
          <a:prstGeom prst="roundRect">
            <a:avLst>
              <a:gd name="adj" fmla="val 1041"/>
            </a:avLst>
          </a:prstGeom>
          <a:solidFill>
            <a:srgbClr val="3E3E3E"/>
          </a:solidFill>
          <a:ln/>
        </p:spPr>
      </p:sp>
      <p:sp>
        <p:nvSpPr>
          <p:cNvPr id="6" name="Shape 13">
            <a:extLst>
              <a:ext uri="{FF2B5EF4-FFF2-40B4-BE49-F238E27FC236}">
                <a16:creationId xmlns:a16="http://schemas.microsoft.com/office/drawing/2014/main" id="{6B19B9B1-CC2B-79ED-7362-252033FF27E9}"/>
              </a:ext>
            </a:extLst>
          </p:cNvPr>
          <p:cNvSpPr/>
          <p:nvPr/>
        </p:nvSpPr>
        <p:spPr>
          <a:xfrm>
            <a:off x="173590" y="4450013"/>
            <a:ext cx="5946100" cy="2341246"/>
          </a:xfrm>
          <a:prstGeom prst="roundRect">
            <a:avLst>
              <a:gd name="adj" fmla="val 1332"/>
            </a:avLst>
          </a:prstGeom>
          <a:solidFill>
            <a:srgbClr val="3E3E3E"/>
          </a:solidFill>
          <a:ln/>
        </p:spPr>
      </p:sp>
      <p:sp>
        <p:nvSpPr>
          <p:cNvPr id="7" name="Shape 17">
            <a:extLst>
              <a:ext uri="{FF2B5EF4-FFF2-40B4-BE49-F238E27FC236}">
                <a16:creationId xmlns:a16="http://schemas.microsoft.com/office/drawing/2014/main" id="{2E2528BC-EEDF-9176-325D-38235E57CEC2}"/>
              </a:ext>
            </a:extLst>
          </p:cNvPr>
          <p:cNvSpPr/>
          <p:nvPr/>
        </p:nvSpPr>
        <p:spPr>
          <a:xfrm>
            <a:off x="6134694" y="4440555"/>
            <a:ext cx="5907520" cy="2341246"/>
          </a:xfrm>
          <a:prstGeom prst="roundRect">
            <a:avLst>
              <a:gd name="adj" fmla="val 1332"/>
            </a:avLst>
          </a:prstGeom>
          <a:solidFill>
            <a:srgbClr val="3E3E3E"/>
          </a:solidFill>
          <a:ln/>
        </p:spPr>
      </p:sp>
      <p:sp>
        <p:nvSpPr>
          <p:cNvPr id="8" name="Shape 2">
            <a:extLst>
              <a:ext uri="{FF2B5EF4-FFF2-40B4-BE49-F238E27FC236}">
                <a16:creationId xmlns:a16="http://schemas.microsoft.com/office/drawing/2014/main" id="{CAC41D3F-30DB-B29A-13E6-74281E819130}"/>
              </a:ext>
            </a:extLst>
          </p:cNvPr>
          <p:cNvSpPr/>
          <p:nvPr/>
        </p:nvSpPr>
        <p:spPr>
          <a:xfrm>
            <a:off x="264795" y="1148835"/>
            <a:ext cx="659130" cy="659130"/>
          </a:xfrm>
          <a:prstGeom prst="roundRect">
            <a:avLst>
              <a:gd name="adj" fmla="val 13871445"/>
            </a:avLst>
          </a:prstGeom>
          <a:solidFill>
            <a:srgbClr val="F5F547"/>
          </a:solidFill>
          <a:ln/>
        </p:spPr>
      </p:sp>
      <p:pic>
        <p:nvPicPr>
          <p:cNvPr id="9" name="Image 0" descr="preencoded.png">
            <a:extLst>
              <a:ext uri="{FF2B5EF4-FFF2-40B4-BE49-F238E27FC236}">
                <a16:creationId xmlns:a16="http://schemas.microsoft.com/office/drawing/2014/main" id="{7ADCA337-142B-0791-C7D8-892B33FF352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6067" y="1330107"/>
            <a:ext cx="296585" cy="296585"/>
          </a:xfrm>
          <a:prstGeom prst="rect">
            <a:avLst/>
          </a:prstGeom>
        </p:spPr>
      </p:pic>
      <p:sp>
        <p:nvSpPr>
          <p:cNvPr id="10" name="Shape 6">
            <a:extLst>
              <a:ext uri="{FF2B5EF4-FFF2-40B4-BE49-F238E27FC236}">
                <a16:creationId xmlns:a16="http://schemas.microsoft.com/office/drawing/2014/main" id="{8949547A-9F62-8238-C053-F52BC0758174}"/>
              </a:ext>
            </a:extLst>
          </p:cNvPr>
          <p:cNvSpPr/>
          <p:nvPr/>
        </p:nvSpPr>
        <p:spPr>
          <a:xfrm>
            <a:off x="4385429" y="1148835"/>
            <a:ext cx="659130" cy="659130"/>
          </a:xfrm>
          <a:prstGeom prst="roundRect">
            <a:avLst>
              <a:gd name="adj" fmla="val 13871445"/>
            </a:avLst>
          </a:prstGeom>
          <a:solidFill>
            <a:srgbClr val="F5F547"/>
          </a:solidFill>
          <a:ln/>
        </p:spPr>
      </p:sp>
      <p:pic>
        <p:nvPicPr>
          <p:cNvPr id="11" name="Image 1" descr="preencoded.png">
            <a:extLst>
              <a:ext uri="{FF2B5EF4-FFF2-40B4-BE49-F238E27FC236}">
                <a16:creationId xmlns:a16="http://schemas.microsoft.com/office/drawing/2014/main" id="{A88E51A1-E496-C937-6ECE-675957FE380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566701" y="1330107"/>
            <a:ext cx="296585" cy="296585"/>
          </a:xfrm>
          <a:prstGeom prst="rect">
            <a:avLst/>
          </a:prstGeom>
        </p:spPr>
      </p:pic>
      <p:sp>
        <p:nvSpPr>
          <p:cNvPr id="12" name="Shape 10">
            <a:extLst>
              <a:ext uri="{FF2B5EF4-FFF2-40B4-BE49-F238E27FC236}">
                <a16:creationId xmlns:a16="http://schemas.microsoft.com/office/drawing/2014/main" id="{80572531-A6EB-10E2-3A23-F5FDB30EC308}"/>
              </a:ext>
            </a:extLst>
          </p:cNvPr>
          <p:cNvSpPr/>
          <p:nvPr/>
        </p:nvSpPr>
        <p:spPr>
          <a:xfrm>
            <a:off x="8758775" y="1148834"/>
            <a:ext cx="659130" cy="659130"/>
          </a:xfrm>
          <a:prstGeom prst="roundRect">
            <a:avLst>
              <a:gd name="adj" fmla="val 13871445"/>
            </a:avLst>
          </a:prstGeom>
          <a:solidFill>
            <a:srgbClr val="F5F547"/>
          </a:solidFill>
          <a:ln/>
        </p:spPr>
      </p:sp>
      <p:pic>
        <p:nvPicPr>
          <p:cNvPr id="13" name="Image 2" descr="preencoded.png">
            <a:extLst>
              <a:ext uri="{FF2B5EF4-FFF2-40B4-BE49-F238E27FC236}">
                <a16:creationId xmlns:a16="http://schemas.microsoft.com/office/drawing/2014/main" id="{AC9370D1-F6D6-17A1-D16B-B882C40550A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40047" y="1330106"/>
            <a:ext cx="296585" cy="296585"/>
          </a:xfrm>
          <a:prstGeom prst="rect">
            <a:avLst/>
          </a:prstGeom>
        </p:spPr>
      </p:pic>
      <p:sp>
        <p:nvSpPr>
          <p:cNvPr id="14" name="Shape 14">
            <a:extLst>
              <a:ext uri="{FF2B5EF4-FFF2-40B4-BE49-F238E27FC236}">
                <a16:creationId xmlns:a16="http://schemas.microsoft.com/office/drawing/2014/main" id="{2CDFB422-2D45-5256-6C53-8A2A1686DA66}"/>
              </a:ext>
            </a:extLst>
          </p:cNvPr>
          <p:cNvSpPr/>
          <p:nvPr/>
        </p:nvSpPr>
        <p:spPr>
          <a:xfrm>
            <a:off x="264794" y="4534194"/>
            <a:ext cx="659130" cy="659130"/>
          </a:xfrm>
          <a:prstGeom prst="roundRect">
            <a:avLst>
              <a:gd name="adj" fmla="val 13871445"/>
            </a:avLst>
          </a:prstGeom>
          <a:solidFill>
            <a:srgbClr val="F5F547"/>
          </a:solidFill>
          <a:ln/>
        </p:spPr>
      </p:sp>
      <p:pic>
        <p:nvPicPr>
          <p:cNvPr id="15" name="Image 3" descr="preencoded.png">
            <a:extLst>
              <a:ext uri="{FF2B5EF4-FFF2-40B4-BE49-F238E27FC236}">
                <a16:creationId xmlns:a16="http://schemas.microsoft.com/office/drawing/2014/main" id="{E4189DD5-C48F-FA95-EDA0-F90267E88C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6066" y="4715466"/>
            <a:ext cx="296585" cy="296585"/>
          </a:xfrm>
          <a:prstGeom prst="rect">
            <a:avLst/>
          </a:prstGeom>
        </p:spPr>
      </p:pic>
      <p:sp>
        <p:nvSpPr>
          <p:cNvPr id="16" name="Shape 18">
            <a:extLst>
              <a:ext uri="{FF2B5EF4-FFF2-40B4-BE49-F238E27FC236}">
                <a16:creationId xmlns:a16="http://schemas.microsoft.com/office/drawing/2014/main" id="{481ED7E1-9CE1-2045-28B9-7F07E0CB6299}"/>
              </a:ext>
            </a:extLst>
          </p:cNvPr>
          <p:cNvSpPr/>
          <p:nvPr/>
        </p:nvSpPr>
        <p:spPr>
          <a:xfrm>
            <a:off x="6286318" y="4534193"/>
            <a:ext cx="659130" cy="659130"/>
          </a:xfrm>
          <a:prstGeom prst="roundRect">
            <a:avLst>
              <a:gd name="adj" fmla="val 13871445"/>
            </a:avLst>
          </a:prstGeom>
          <a:solidFill>
            <a:srgbClr val="F5F547"/>
          </a:solidFill>
          <a:ln/>
        </p:spPr>
      </p:sp>
      <p:pic>
        <p:nvPicPr>
          <p:cNvPr id="17" name="Image 4" descr="preencoded.png">
            <a:extLst>
              <a:ext uri="{FF2B5EF4-FFF2-40B4-BE49-F238E27FC236}">
                <a16:creationId xmlns:a16="http://schemas.microsoft.com/office/drawing/2014/main" id="{0405E0BC-C125-4E05-0AD6-606C3A13891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67590" y="4742968"/>
            <a:ext cx="296585" cy="296585"/>
          </a:xfrm>
          <a:prstGeom prst="rect">
            <a:avLst/>
          </a:prstGeom>
        </p:spPr>
      </p:pic>
      <p:sp>
        <p:nvSpPr>
          <p:cNvPr id="18" name="Text 3">
            <a:extLst>
              <a:ext uri="{FF2B5EF4-FFF2-40B4-BE49-F238E27FC236}">
                <a16:creationId xmlns:a16="http://schemas.microsoft.com/office/drawing/2014/main" id="{CD5E92E3-5865-E32C-7C93-53C0C57069F7}"/>
              </a:ext>
            </a:extLst>
          </p:cNvPr>
          <p:cNvSpPr/>
          <p:nvPr/>
        </p:nvSpPr>
        <p:spPr>
          <a:xfrm>
            <a:off x="340459" y="1908393"/>
            <a:ext cx="2746653" cy="343257"/>
          </a:xfrm>
          <a:prstGeom prst="rect">
            <a:avLst/>
          </a:prstGeom>
          <a:noFill/>
          <a:ln/>
        </p:spPr>
        <p:txBody>
          <a:bodyPr wrap="none" lIns="0" tIns="0" rIns="0" bIns="0" rtlCol="0" anchor="t"/>
          <a:lstStyle/>
          <a:p>
            <a:pPr marL="0" indent="0" algn="l">
              <a:lnSpc>
                <a:spcPts val="2700"/>
              </a:lnSpc>
              <a:buNone/>
            </a:pPr>
            <a:r>
              <a:rPr lang="en-US" sz="2150" dirty="0">
                <a:solidFill>
                  <a:srgbClr val="BFBFBF"/>
                </a:solidFill>
                <a:latin typeface="Instrument Sans Medium" pitchFamily="34" charset="0"/>
                <a:ea typeface="Instrument Sans Medium" pitchFamily="34" charset="-122"/>
                <a:cs typeface="Instrument Sans Medium" pitchFamily="34" charset="-120"/>
              </a:rPr>
              <a:t>Informe Ejecutivo</a:t>
            </a:r>
            <a:endParaRPr lang="en-US" sz="2150" dirty="0"/>
          </a:p>
        </p:txBody>
      </p:sp>
      <p:sp>
        <p:nvSpPr>
          <p:cNvPr id="19" name="Text 4">
            <a:extLst>
              <a:ext uri="{FF2B5EF4-FFF2-40B4-BE49-F238E27FC236}">
                <a16:creationId xmlns:a16="http://schemas.microsoft.com/office/drawing/2014/main" id="{D3BF1ED4-3EDA-70BD-A8BF-066CB4DE8DD8}"/>
              </a:ext>
            </a:extLst>
          </p:cNvPr>
          <p:cNvSpPr/>
          <p:nvPr/>
        </p:nvSpPr>
        <p:spPr>
          <a:xfrm>
            <a:off x="311825" y="2421848"/>
            <a:ext cx="3782854" cy="1038344"/>
          </a:xfrm>
          <a:prstGeom prst="rect">
            <a:avLst/>
          </a:prstGeom>
          <a:noFill/>
          <a:ln/>
        </p:spPr>
        <p:txBody>
          <a:bodyPr wrap="square" lIns="0" tIns="0" rIns="0" bIns="0" rtlCol="0" anchor="t"/>
          <a:lstStyle/>
          <a:p>
            <a:pPr marL="0" indent="0" algn="l">
              <a:lnSpc>
                <a:spcPts val="2700"/>
              </a:lnSpc>
              <a:buNone/>
            </a:pPr>
            <a:r>
              <a:rPr lang="en-US" sz="1700" dirty="0">
                <a:solidFill>
                  <a:srgbClr val="BFBFBF"/>
                </a:solidFill>
                <a:latin typeface="Open Sans" pitchFamily="34" charset="0"/>
                <a:ea typeface="Open Sans" pitchFamily="34" charset="-122"/>
                <a:cs typeface="Open Sans" pitchFamily="34" charset="-120"/>
              </a:rPr>
              <a:t>15–20 páginas con hallazgos, brechas y recomendaciones. Listo para Junta Directiva.</a:t>
            </a:r>
            <a:endParaRPr lang="en-US" sz="1700" dirty="0"/>
          </a:p>
        </p:txBody>
      </p:sp>
      <p:sp>
        <p:nvSpPr>
          <p:cNvPr id="20" name="Text 7">
            <a:extLst>
              <a:ext uri="{FF2B5EF4-FFF2-40B4-BE49-F238E27FC236}">
                <a16:creationId xmlns:a16="http://schemas.microsoft.com/office/drawing/2014/main" id="{9622A2E7-58DC-9935-7ABF-37C71BE09B0F}"/>
              </a:ext>
            </a:extLst>
          </p:cNvPr>
          <p:cNvSpPr/>
          <p:nvPr/>
        </p:nvSpPr>
        <p:spPr>
          <a:xfrm>
            <a:off x="4566701" y="1900295"/>
            <a:ext cx="2746653" cy="343257"/>
          </a:xfrm>
          <a:prstGeom prst="rect">
            <a:avLst/>
          </a:prstGeom>
          <a:noFill/>
          <a:ln/>
        </p:spPr>
        <p:txBody>
          <a:bodyPr wrap="none" lIns="0" tIns="0" rIns="0" bIns="0" rtlCol="0" anchor="t"/>
          <a:lstStyle/>
          <a:p>
            <a:pPr marL="0" indent="0" algn="l">
              <a:lnSpc>
                <a:spcPts val="2700"/>
              </a:lnSpc>
              <a:buNone/>
            </a:pPr>
            <a:r>
              <a:rPr lang="en-US" sz="2150" dirty="0">
                <a:solidFill>
                  <a:srgbClr val="BFBFBF"/>
                </a:solidFill>
                <a:latin typeface="Instrument Sans Medium" pitchFamily="34" charset="0"/>
                <a:ea typeface="Instrument Sans Medium" pitchFamily="34" charset="-122"/>
                <a:cs typeface="Instrument Sans Medium" pitchFamily="34" charset="-120"/>
              </a:rPr>
              <a:t>Mapa de Calor</a:t>
            </a:r>
            <a:endParaRPr lang="en-US" sz="2150" dirty="0"/>
          </a:p>
        </p:txBody>
      </p:sp>
      <p:sp>
        <p:nvSpPr>
          <p:cNvPr id="21" name="Text 8">
            <a:extLst>
              <a:ext uri="{FF2B5EF4-FFF2-40B4-BE49-F238E27FC236}">
                <a16:creationId xmlns:a16="http://schemas.microsoft.com/office/drawing/2014/main" id="{98FA32C6-A52B-203A-2AA0-0A9E15562E9F}"/>
              </a:ext>
            </a:extLst>
          </p:cNvPr>
          <p:cNvSpPr/>
          <p:nvPr/>
        </p:nvSpPr>
        <p:spPr>
          <a:xfrm>
            <a:off x="4465676" y="2410686"/>
            <a:ext cx="3782973" cy="1384459"/>
          </a:xfrm>
          <a:prstGeom prst="rect">
            <a:avLst/>
          </a:prstGeom>
          <a:noFill/>
          <a:ln/>
        </p:spPr>
        <p:txBody>
          <a:bodyPr wrap="square" lIns="0" tIns="0" rIns="0" bIns="0" rtlCol="0" anchor="t"/>
          <a:lstStyle/>
          <a:p>
            <a:pPr marL="0" indent="0" algn="l">
              <a:lnSpc>
                <a:spcPts val="2700"/>
              </a:lnSpc>
              <a:buNone/>
            </a:pPr>
            <a:r>
              <a:rPr lang="en-US" sz="1700" dirty="0">
                <a:solidFill>
                  <a:srgbClr val="BFBFBF"/>
                </a:solidFill>
                <a:latin typeface="Open Sans" pitchFamily="34" charset="0"/>
                <a:ea typeface="Open Sans" pitchFamily="34" charset="-122"/>
                <a:cs typeface="Open Sans" pitchFamily="34" charset="-120"/>
              </a:rPr>
              <a:t>Brechas mapeadas contra los 5 dominios del NIST CSF: Identificar, Proteger, Detectar, Responder, Recuperar.</a:t>
            </a:r>
            <a:endParaRPr lang="en-US" sz="1700" dirty="0"/>
          </a:p>
        </p:txBody>
      </p:sp>
      <p:sp>
        <p:nvSpPr>
          <p:cNvPr id="22" name="Text 11">
            <a:extLst>
              <a:ext uri="{FF2B5EF4-FFF2-40B4-BE49-F238E27FC236}">
                <a16:creationId xmlns:a16="http://schemas.microsoft.com/office/drawing/2014/main" id="{14A02786-361F-5F60-9CDF-68C63BBA082C}"/>
              </a:ext>
            </a:extLst>
          </p:cNvPr>
          <p:cNvSpPr/>
          <p:nvPr/>
        </p:nvSpPr>
        <p:spPr>
          <a:xfrm>
            <a:off x="8720258" y="1908393"/>
            <a:ext cx="2746653" cy="343257"/>
          </a:xfrm>
          <a:prstGeom prst="rect">
            <a:avLst/>
          </a:prstGeom>
          <a:noFill/>
          <a:ln/>
        </p:spPr>
        <p:txBody>
          <a:bodyPr wrap="none" lIns="0" tIns="0" rIns="0" bIns="0" rtlCol="0" anchor="t"/>
          <a:lstStyle/>
          <a:p>
            <a:pPr marL="0" indent="0" algn="l">
              <a:lnSpc>
                <a:spcPts val="2700"/>
              </a:lnSpc>
              <a:buNone/>
            </a:pPr>
            <a:r>
              <a:rPr lang="en-US" sz="2150" dirty="0">
                <a:solidFill>
                  <a:srgbClr val="BFBFBF"/>
                </a:solidFill>
                <a:latin typeface="Instrument Sans Medium" pitchFamily="34" charset="0"/>
                <a:ea typeface="Instrument Sans Medium" pitchFamily="34" charset="-122"/>
                <a:cs typeface="Instrument Sans Medium" pitchFamily="34" charset="-120"/>
              </a:rPr>
              <a:t>Plan de Acción (PAC)</a:t>
            </a:r>
            <a:endParaRPr lang="en-US" sz="2150" dirty="0"/>
          </a:p>
        </p:txBody>
      </p:sp>
      <p:sp>
        <p:nvSpPr>
          <p:cNvPr id="23" name="Text 12">
            <a:extLst>
              <a:ext uri="{FF2B5EF4-FFF2-40B4-BE49-F238E27FC236}">
                <a16:creationId xmlns:a16="http://schemas.microsoft.com/office/drawing/2014/main" id="{C9F447B8-DF0C-6ABF-56AE-F62234E5EC83}"/>
              </a:ext>
            </a:extLst>
          </p:cNvPr>
          <p:cNvSpPr/>
          <p:nvPr/>
        </p:nvSpPr>
        <p:spPr>
          <a:xfrm>
            <a:off x="8645016" y="2410686"/>
            <a:ext cx="3311360" cy="1038344"/>
          </a:xfrm>
          <a:prstGeom prst="rect">
            <a:avLst/>
          </a:prstGeom>
          <a:noFill/>
          <a:ln/>
        </p:spPr>
        <p:txBody>
          <a:bodyPr wrap="square" lIns="0" tIns="0" rIns="0" bIns="0" rtlCol="0" anchor="t"/>
          <a:lstStyle/>
          <a:p>
            <a:pPr marL="0" indent="0" algn="l">
              <a:lnSpc>
                <a:spcPts val="2700"/>
              </a:lnSpc>
              <a:buNone/>
            </a:pPr>
            <a:r>
              <a:rPr lang="en-US" sz="1700" dirty="0">
                <a:solidFill>
                  <a:srgbClr val="BFBFBF"/>
                </a:solidFill>
                <a:latin typeface="Open Sans" pitchFamily="34" charset="0"/>
                <a:ea typeface="Open Sans" pitchFamily="34" charset="-122"/>
                <a:cs typeface="Open Sans" pitchFamily="34" charset="-120"/>
              </a:rPr>
              <a:t>15–20 acciones concretas con responsables, plazos y priorización por riesgo regulatorio.</a:t>
            </a:r>
            <a:endParaRPr lang="en-US" sz="1700" dirty="0"/>
          </a:p>
        </p:txBody>
      </p:sp>
      <p:sp>
        <p:nvSpPr>
          <p:cNvPr id="24" name="Text 15">
            <a:extLst>
              <a:ext uri="{FF2B5EF4-FFF2-40B4-BE49-F238E27FC236}">
                <a16:creationId xmlns:a16="http://schemas.microsoft.com/office/drawing/2014/main" id="{5DED0EDD-5462-7931-CB77-90A0ADDCF2A8}"/>
              </a:ext>
            </a:extLst>
          </p:cNvPr>
          <p:cNvSpPr/>
          <p:nvPr/>
        </p:nvSpPr>
        <p:spPr>
          <a:xfrm>
            <a:off x="340459" y="5258688"/>
            <a:ext cx="2746653" cy="343257"/>
          </a:xfrm>
          <a:prstGeom prst="rect">
            <a:avLst/>
          </a:prstGeom>
          <a:noFill/>
          <a:ln/>
        </p:spPr>
        <p:txBody>
          <a:bodyPr wrap="none" lIns="0" tIns="0" rIns="0" bIns="0" rtlCol="0" anchor="t"/>
          <a:lstStyle/>
          <a:p>
            <a:pPr marL="0" indent="0" algn="l">
              <a:lnSpc>
                <a:spcPts val="2700"/>
              </a:lnSpc>
              <a:buNone/>
            </a:pPr>
            <a:r>
              <a:rPr lang="en-US" sz="2150" dirty="0">
                <a:solidFill>
                  <a:srgbClr val="BFBFBF"/>
                </a:solidFill>
                <a:latin typeface="Instrument Sans Medium" pitchFamily="34" charset="0"/>
                <a:ea typeface="Instrument Sans Medium" pitchFamily="34" charset="-122"/>
                <a:cs typeface="Instrument Sans Medium" pitchFamily="34" charset="-120"/>
              </a:rPr>
              <a:t>TTX Playbook</a:t>
            </a:r>
            <a:endParaRPr lang="en-US" sz="2150" dirty="0"/>
          </a:p>
        </p:txBody>
      </p:sp>
      <p:sp>
        <p:nvSpPr>
          <p:cNvPr id="25" name="Text 16">
            <a:extLst>
              <a:ext uri="{FF2B5EF4-FFF2-40B4-BE49-F238E27FC236}">
                <a16:creationId xmlns:a16="http://schemas.microsoft.com/office/drawing/2014/main" id="{CB66D1A1-8300-7E74-E239-9D66329B219E}"/>
              </a:ext>
            </a:extLst>
          </p:cNvPr>
          <p:cNvSpPr/>
          <p:nvPr/>
        </p:nvSpPr>
        <p:spPr>
          <a:xfrm>
            <a:off x="311825" y="5702406"/>
            <a:ext cx="6000393" cy="692229"/>
          </a:xfrm>
          <a:prstGeom prst="rect">
            <a:avLst/>
          </a:prstGeom>
          <a:noFill/>
          <a:ln/>
        </p:spPr>
        <p:txBody>
          <a:bodyPr wrap="square" lIns="0" tIns="0" rIns="0" bIns="0" rtlCol="0" anchor="t"/>
          <a:lstStyle/>
          <a:p>
            <a:pPr marL="0" indent="0" algn="l">
              <a:lnSpc>
                <a:spcPts val="2700"/>
              </a:lnSpc>
              <a:buNone/>
            </a:pPr>
            <a:r>
              <a:rPr lang="en-US" sz="1700" dirty="0">
                <a:solidFill>
                  <a:srgbClr val="BFBFBF"/>
                </a:solidFill>
                <a:latin typeface="Open Sans" pitchFamily="34" charset="0"/>
                <a:ea typeface="Open Sans" pitchFamily="34" charset="-122"/>
                <a:cs typeface="Open Sans" pitchFamily="34" charset="-120"/>
              </a:rPr>
              <a:t>Guion maestro reutilizable con injects, roles, tiempos y métricas de evaluación.</a:t>
            </a:r>
            <a:endParaRPr lang="en-US" sz="1700" dirty="0"/>
          </a:p>
        </p:txBody>
      </p:sp>
      <p:sp>
        <p:nvSpPr>
          <p:cNvPr id="26" name="Text 19">
            <a:extLst>
              <a:ext uri="{FF2B5EF4-FFF2-40B4-BE49-F238E27FC236}">
                <a16:creationId xmlns:a16="http://schemas.microsoft.com/office/drawing/2014/main" id="{3DC3BAF9-61AE-B194-40F4-16CC1C1C4F34}"/>
              </a:ext>
            </a:extLst>
          </p:cNvPr>
          <p:cNvSpPr/>
          <p:nvPr/>
        </p:nvSpPr>
        <p:spPr>
          <a:xfrm>
            <a:off x="6318827" y="5277379"/>
            <a:ext cx="2950488" cy="343257"/>
          </a:xfrm>
          <a:prstGeom prst="rect">
            <a:avLst/>
          </a:prstGeom>
          <a:noFill/>
          <a:ln/>
        </p:spPr>
        <p:txBody>
          <a:bodyPr wrap="none" lIns="0" tIns="0" rIns="0" bIns="0" rtlCol="0" anchor="t"/>
          <a:lstStyle/>
          <a:p>
            <a:pPr marL="0" indent="0" algn="l">
              <a:lnSpc>
                <a:spcPts val="2700"/>
              </a:lnSpc>
              <a:buNone/>
            </a:pPr>
            <a:r>
              <a:rPr lang="en-US" sz="2150" dirty="0">
                <a:solidFill>
                  <a:srgbClr val="BFBFBF"/>
                </a:solidFill>
                <a:latin typeface="Instrument Sans Medium" pitchFamily="34" charset="0"/>
                <a:ea typeface="Instrument Sans Medium" pitchFamily="34" charset="-122"/>
                <a:cs typeface="Instrument Sans Medium" pitchFamily="34" charset="-120"/>
              </a:rPr>
              <a:t>Dashboard de Madurez</a:t>
            </a:r>
            <a:endParaRPr lang="en-US" sz="2150" dirty="0"/>
          </a:p>
        </p:txBody>
      </p:sp>
      <p:sp>
        <p:nvSpPr>
          <p:cNvPr id="27" name="Text 20">
            <a:extLst>
              <a:ext uri="{FF2B5EF4-FFF2-40B4-BE49-F238E27FC236}">
                <a16:creationId xmlns:a16="http://schemas.microsoft.com/office/drawing/2014/main" id="{C3265BFA-6289-6DA0-05FC-64F2ACB46340}"/>
              </a:ext>
            </a:extLst>
          </p:cNvPr>
          <p:cNvSpPr/>
          <p:nvPr/>
        </p:nvSpPr>
        <p:spPr>
          <a:xfrm>
            <a:off x="6236376" y="5684032"/>
            <a:ext cx="5643799" cy="692229"/>
          </a:xfrm>
          <a:prstGeom prst="rect">
            <a:avLst/>
          </a:prstGeom>
          <a:noFill/>
          <a:ln/>
        </p:spPr>
        <p:txBody>
          <a:bodyPr wrap="square" lIns="0" tIns="0" rIns="0" bIns="0" rtlCol="0" anchor="t"/>
          <a:lstStyle/>
          <a:p>
            <a:pPr marL="0" indent="0" algn="l">
              <a:lnSpc>
                <a:spcPts val="2700"/>
              </a:lnSpc>
              <a:buNone/>
            </a:pPr>
            <a:r>
              <a:rPr lang="en-US" sz="1700" dirty="0">
                <a:solidFill>
                  <a:srgbClr val="BFBFBF"/>
                </a:solidFill>
                <a:latin typeface="Open Sans" pitchFamily="34" charset="0"/>
                <a:ea typeface="Open Sans" pitchFamily="34" charset="-122"/>
                <a:cs typeface="Open Sans" pitchFamily="34" charset="-120"/>
              </a:rPr>
              <a:t>Scorecard por rol: tiempo de respuesta, calidad de decisión, coordinación y comunicación.</a:t>
            </a:r>
            <a:endParaRPr lang="en-US" sz="1700" dirty="0"/>
          </a:p>
        </p:txBody>
      </p:sp>
    </p:spTree>
    <p:extLst>
      <p:ext uri="{BB962C8B-B14F-4D97-AF65-F5344CB8AC3E}">
        <p14:creationId xmlns:p14="http://schemas.microsoft.com/office/powerpoint/2010/main" val="3502360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0">
            <a:extLst>
              <a:ext uri="{FF2B5EF4-FFF2-40B4-BE49-F238E27FC236}">
                <a16:creationId xmlns:a16="http://schemas.microsoft.com/office/drawing/2014/main" id="{34EB290D-E0AF-93CB-5EA5-8072B2FB4C4E}"/>
              </a:ext>
            </a:extLst>
          </p:cNvPr>
          <p:cNvSpPr/>
          <p:nvPr/>
        </p:nvSpPr>
        <p:spPr>
          <a:xfrm>
            <a:off x="265033" y="467439"/>
            <a:ext cx="5227558" cy="653415"/>
          </a:xfrm>
          <a:prstGeom prst="rect">
            <a:avLst/>
          </a:prstGeom>
          <a:noFill/>
          <a:ln/>
        </p:spPr>
        <p:txBody>
          <a:bodyPr wrap="none" lIns="0" tIns="0" rIns="0" bIns="0" rtlCol="0" anchor="t"/>
          <a:lstStyle/>
          <a:p>
            <a:pPr marL="0" indent="0" algn="l">
              <a:lnSpc>
                <a:spcPts val="5100"/>
              </a:lnSpc>
              <a:buNone/>
            </a:pPr>
            <a:r>
              <a:rPr lang="en-US" sz="4100" dirty="0">
                <a:latin typeface="Instrument Sans Medium" pitchFamily="34" charset="0"/>
                <a:ea typeface="Instrument Sans Medium" pitchFamily="34" charset="-122"/>
                <a:cs typeface="Instrument Sans Medium" pitchFamily="34" charset="-120"/>
              </a:rPr>
              <a:t>Inversión &amp; ROI</a:t>
            </a:r>
            <a:endParaRPr lang="en-US" sz="4100" dirty="0"/>
          </a:p>
        </p:txBody>
      </p:sp>
      <p:sp>
        <p:nvSpPr>
          <p:cNvPr id="29" name="Shape 1">
            <a:extLst>
              <a:ext uri="{FF2B5EF4-FFF2-40B4-BE49-F238E27FC236}">
                <a16:creationId xmlns:a16="http://schemas.microsoft.com/office/drawing/2014/main" id="{6E281F3A-5ED6-2F08-66B4-12ABC2D5B7D3}"/>
              </a:ext>
            </a:extLst>
          </p:cNvPr>
          <p:cNvSpPr/>
          <p:nvPr/>
        </p:nvSpPr>
        <p:spPr>
          <a:xfrm>
            <a:off x="265033" y="1343024"/>
            <a:ext cx="5819537" cy="4248151"/>
          </a:xfrm>
          <a:prstGeom prst="roundRect">
            <a:avLst>
              <a:gd name="adj" fmla="val 598"/>
            </a:avLst>
          </a:prstGeom>
          <a:solidFill>
            <a:srgbClr val="F5F547"/>
          </a:solidFill>
          <a:ln/>
        </p:spPr>
      </p:sp>
      <p:sp>
        <p:nvSpPr>
          <p:cNvPr id="30" name="Text 2">
            <a:extLst>
              <a:ext uri="{FF2B5EF4-FFF2-40B4-BE49-F238E27FC236}">
                <a16:creationId xmlns:a16="http://schemas.microsoft.com/office/drawing/2014/main" id="{74FA5A04-BB95-949C-620B-A72600D0BA0A}"/>
              </a:ext>
            </a:extLst>
          </p:cNvPr>
          <p:cNvSpPr/>
          <p:nvPr/>
        </p:nvSpPr>
        <p:spPr>
          <a:xfrm>
            <a:off x="435292" y="1526500"/>
            <a:ext cx="2739509" cy="326588"/>
          </a:xfrm>
          <a:prstGeom prst="rect">
            <a:avLst/>
          </a:prstGeom>
          <a:noFill/>
          <a:ln/>
        </p:spPr>
        <p:txBody>
          <a:bodyPr wrap="none" lIns="0" tIns="0" rIns="0" bIns="0" rtlCol="0" anchor="t"/>
          <a:lstStyle/>
          <a:p>
            <a:pPr marL="0" indent="0" algn="l">
              <a:lnSpc>
                <a:spcPts val="2550"/>
              </a:lnSpc>
              <a:buNone/>
            </a:pPr>
            <a:r>
              <a:rPr lang="en-US" sz="2050" dirty="0">
                <a:solidFill>
                  <a:srgbClr val="000000"/>
                </a:solidFill>
                <a:latin typeface="Instrument Sans Medium" pitchFamily="34" charset="0"/>
                <a:ea typeface="Instrument Sans Medium" pitchFamily="34" charset="-122"/>
                <a:cs typeface="Instrument Sans Medium" pitchFamily="34" charset="-120"/>
              </a:rPr>
              <a:t>Valor Total del Servicio</a:t>
            </a:r>
            <a:endParaRPr lang="en-US" sz="2050" dirty="0"/>
          </a:p>
        </p:txBody>
      </p:sp>
      <p:sp>
        <p:nvSpPr>
          <p:cNvPr id="31" name="Text 3">
            <a:extLst>
              <a:ext uri="{FF2B5EF4-FFF2-40B4-BE49-F238E27FC236}">
                <a16:creationId xmlns:a16="http://schemas.microsoft.com/office/drawing/2014/main" id="{D641B244-089E-344D-25DF-23ADA63C58D2}"/>
              </a:ext>
            </a:extLst>
          </p:cNvPr>
          <p:cNvSpPr/>
          <p:nvPr/>
        </p:nvSpPr>
        <p:spPr>
          <a:xfrm>
            <a:off x="293608" y="1845468"/>
            <a:ext cx="6211253" cy="901660"/>
          </a:xfrm>
          <a:prstGeom prst="rect">
            <a:avLst/>
          </a:prstGeom>
          <a:noFill/>
          <a:ln/>
        </p:spPr>
        <p:txBody>
          <a:bodyPr wrap="none" lIns="0" tIns="0" rIns="0" bIns="0" rtlCol="0" anchor="t"/>
          <a:lstStyle/>
          <a:p>
            <a:pPr marL="0" indent="0" algn="l">
              <a:lnSpc>
                <a:spcPts val="7100"/>
              </a:lnSpc>
              <a:buNone/>
            </a:pPr>
            <a:r>
              <a:rPr lang="en-US" sz="5650" dirty="0">
                <a:solidFill>
                  <a:srgbClr val="000000"/>
                </a:solidFill>
                <a:latin typeface="Instrument Sans Medium" pitchFamily="34" charset="0"/>
                <a:ea typeface="Instrument Sans Medium" pitchFamily="34" charset="-122"/>
                <a:cs typeface="Instrument Sans Medium" pitchFamily="34" charset="-120"/>
              </a:rPr>
              <a:t>$17.000.000 COP</a:t>
            </a:r>
            <a:endParaRPr lang="en-US" sz="5650" dirty="0"/>
          </a:p>
        </p:txBody>
      </p:sp>
      <p:sp>
        <p:nvSpPr>
          <p:cNvPr id="32" name="Text 4">
            <a:extLst>
              <a:ext uri="{FF2B5EF4-FFF2-40B4-BE49-F238E27FC236}">
                <a16:creationId xmlns:a16="http://schemas.microsoft.com/office/drawing/2014/main" id="{E191CD28-BB66-C8D2-7D6B-AED037DFB841}"/>
              </a:ext>
            </a:extLst>
          </p:cNvPr>
          <p:cNvSpPr/>
          <p:nvPr/>
        </p:nvSpPr>
        <p:spPr>
          <a:xfrm>
            <a:off x="435293" y="2599788"/>
            <a:ext cx="5508308" cy="321350"/>
          </a:xfrm>
          <a:prstGeom prst="rect">
            <a:avLst/>
          </a:prstGeom>
          <a:noFill/>
          <a:ln/>
        </p:spPr>
        <p:txBody>
          <a:bodyPr wrap="none" lIns="0" tIns="0" rIns="0" bIns="0" rtlCol="0" anchor="t"/>
          <a:lstStyle/>
          <a:p>
            <a:pPr marL="0" indent="0" algn="l">
              <a:lnSpc>
                <a:spcPts val="2500"/>
              </a:lnSpc>
              <a:buNone/>
            </a:pPr>
            <a:r>
              <a:rPr lang="en-US" sz="1600" dirty="0">
                <a:solidFill>
                  <a:srgbClr val="000000"/>
                </a:solidFill>
                <a:latin typeface="Open Sans" pitchFamily="34" charset="0"/>
                <a:ea typeface="Open Sans" pitchFamily="34" charset="-122"/>
                <a:cs typeface="Open Sans" pitchFamily="34" charset="-120"/>
              </a:rPr>
              <a:t>IVA no incluido</a:t>
            </a:r>
            <a:endParaRPr lang="en-US" sz="1600" dirty="0"/>
          </a:p>
        </p:txBody>
      </p:sp>
      <p:sp>
        <p:nvSpPr>
          <p:cNvPr id="33" name="Text 6">
            <a:extLst>
              <a:ext uri="{FF2B5EF4-FFF2-40B4-BE49-F238E27FC236}">
                <a16:creationId xmlns:a16="http://schemas.microsoft.com/office/drawing/2014/main" id="{2F560D06-20E7-A9E0-58A0-DD6E2ABEEC81}"/>
              </a:ext>
            </a:extLst>
          </p:cNvPr>
          <p:cNvSpPr/>
          <p:nvPr/>
        </p:nvSpPr>
        <p:spPr>
          <a:xfrm>
            <a:off x="322183" y="3066096"/>
            <a:ext cx="5649993" cy="964049"/>
          </a:xfrm>
          <a:prstGeom prst="rect">
            <a:avLst/>
          </a:prstGeom>
          <a:noFill/>
          <a:ln/>
        </p:spPr>
        <p:txBody>
          <a:bodyPr wrap="square" lIns="0" tIns="0" rIns="0" bIns="0" rtlCol="0" anchor="t"/>
          <a:lstStyle/>
          <a:p>
            <a:pPr marL="0" indent="0" algn="l">
              <a:lnSpc>
                <a:spcPts val="2500"/>
              </a:lnSpc>
              <a:buNone/>
            </a:pPr>
            <a:r>
              <a:rPr lang="en-US" sz="1600" dirty="0">
                <a:solidFill>
                  <a:srgbClr val="000000"/>
                </a:solidFill>
                <a:latin typeface="Open Sans" pitchFamily="34" charset="0"/>
                <a:ea typeface="Open Sans" pitchFamily="34" charset="-122"/>
                <a:cs typeface="Open Sans" pitchFamily="34" charset="-120"/>
              </a:rPr>
              <a:t>El costo promedio de un incidente de ransomware en el sector financiero colombiano supera los </a:t>
            </a:r>
            <a:r>
              <a:rPr lang="en-US" sz="1600" b="1" dirty="0">
                <a:solidFill>
                  <a:srgbClr val="000000"/>
                </a:solidFill>
                <a:latin typeface="Open Sans" pitchFamily="34" charset="0"/>
                <a:ea typeface="Open Sans" pitchFamily="34" charset="-122"/>
                <a:cs typeface="Open Sans" pitchFamily="34" charset="-120"/>
              </a:rPr>
              <a:t>USD 280.000</a:t>
            </a:r>
            <a:r>
              <a:rPr lang="en-US" sz="1600" dirty="0">
                <a:solidFill>
                  <a:srgbClr val="000000"/>
                </a:solidFill>
                <a:latin typeface="Open Sans" pitchFamily="34" charset="0"/>
                <a:ea typeface="Open Sans" pitchFamily="34" charset="-122"/>
                <a:cs typeface="Open Sans" pitchFamily="34" charset="-120"/>
              </a:rPr>
              <a:t> en recuperación, multas y pérdida de clientes.</a:t>
            </a:r>
            <a:endParaRPr lang="en-US" sz="1600" dirty="0"/>
          </a:p>
        </p:txBody>
      </p:sp>
      <p:sp>
        <p:nvSpPr>
          <p:cNvPr id="34" name="Shape 7">
            <a:extLst>
              <a:ext uri="{FF2B5EF4-FFF2-40B4-BE49-F238E27FC236}">
                <a16:creationId xmlns:a16="http://schemas.microsoft.com/office/drawing/2014/main" id="{80258910-6E10-E922-6417-B849DE913249}"/>
              </a:ext>
            </a:extLst>
          </p:cNvPr>
          <p:cNvSpPr/>
          <p:nvPr/>
        </p:nvSpPr>
        <p:spPr>
          <a:xfrm>
            <a:off x="312658" y="4202190"/>
            <a:ext cx="5707143" cy="1165741"/>
          </a:xfrm>
          <a:prstGeom prst="roundRect">
            <a:avLst>
              <a:gd name="adj" fmla="val 2691"/>
            </a:avLst>
          </a:prstGeom>
          <a:solidFill>
            <a:srgbClr val="183A13"/>
          </a:solidFill>
          <a:ln/>
        </p:spPr>
      </p:sp>
      <p:pic>
        <p:nvPicPr>
          <p:cNvPr id="35" name="Image 0" descr="preencoded.png">
            <a:extLst>
              <a:ext uri="{FF2B5EF4-FFF2-40B4-BE49-F238E27FC236}">
                <a16:creationId xmlns:a16="http://schemas.microsoft.com/office/drawing/2014/main" id="{87BFB220-3502-D256-8407-DCB4694B2B90}"/>
              </a:ext>
            </a:extLst>
          </p:cNvPr>
          <p:cNvPicPr>
            <a:picLocks noChangeAspect="1"/>
          </p:cNvPicPr>
          <p:nvPr/>
        </p:nvPicPr>
        <p:blipFill>
          <a:blip r:embed="rId2"/>
          <a:stretch>
            <a:fillRect/>
          </a:stretch>
        </p:blipFill>
        <p:spPr>
          <a:xfrm>
            <a:off x="435292" y="4472583"/>
            <a:ext cx="261342" cy="209074"/>
          </a:xfrm>
          <a:prstGeom prst="rect">
            <a:avLst/>
          </a:prstGeom>
        </p:spPr>
      </p:pic>
      <p:sp>
        <p:nvSpPr>
          <p:cNvPr id="36" name="Text 8">
            <a:extLst>
              <a:ext uri="{FF2B5EF4-FFF2-40B4-BE49-F238E27FC236}">
                <a16:creationId xmlns:a16="http://schemas.microsoft.com/office/drawing/2014/main" id="{5C6A6CE4-13BA-589B-713D-DBBF505584EA}"/>
              </a:ext>
            </a:extLst>
          </p:cNvPr>
          <p:cNvSpPr/>
          <p:nvPr/>
        </p:nvSpPr>
        <p:spPr>
          <a:xfrm>
            <a:off x="819746" y="4360307"/>
            <a:ext cx="5322689" cy="642699"/>
          </a:xfrm>
          <a:prstGeom prst="rect">
            <a:avLst/>
          </a:prstGeom>
          <a:noFill/>
          <a:ln/>
        </p:spPr>
        <p:txBody>
          <a:bodyPr wrap="square" lIns="0" tIns="0" rIns="0" bIns="0" rtlCol="0" anchor="t"/>
          <a:lstStyle/>
          <a:p>
            <a:pPr marL="0" indent="0" algn="l">
              <a:lnSpc>
                <a:spcPts val="2500"/>
              </a:lnSpc>
              <a:buNone/>
            </a:pPr>
            <a:r>
              <a:rPr lang="en-US" sz="1600" b="1" dirty="0">
                <a:solidFill>
                  <a:srgbClr val="FFFFFF"/>
                </a:solidFill>
                <a:latin typeface="Open Sans" pitchFamily="34" charset="0"/>
                <a:ea typeface="Open Sans" pitchFamily="34" charset="-122"/>
                <a:cs typeface="Open Sans" pitchFamily="34" charset="-120"/>
              </a:rPr>
              <a:t>Este ejercicio representa menos del 0.5% de ese costo.</a:t>
            </a:r>
            <a:endParaRPr lang="en-US" sz="1600" dirty="0"/>
          </a:p>
        </p:txBody>
      </p:sp>
      <p:pic>
        <p:nvPicPr>
          <p:cNvPr id="37" name="Image 1" descr="preencoded.png">
            <a:extLst>
              <a:ext uri="{FF2B5EF4-FFF2-40B4-BE49-F238E27FC236}">
                <a16:creationId xmlns:a16="http://schemas.microsoft.com/office/drawing/2014/main" id="{1459555C-9972-14C8-9A58-AC6DB538F2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292" y="5846743"/>
            <a:ext cx="313611" cy="313611"/>
          </a:xfrm>
          <a:prstGeom prst="rect">
            <a:avLst/>
          </a:prstGeom>
        </p:spPr>
      </p:pic>
      <p:sp>
        <p:nvSpPr>
          <p:cNvPr id="38" name="Text 12">
            <a:extLst>
              <a:ext uri="{FF2B5EF4-FFF2-40B4-BE49-F238E27FC236}">
                <a16:creationId xmlns:a16="http://schemas.microsoft.com/office/drawing/2014/main" id="{8C863F22-9B62-10BC-235E-A17A7A1C2595}"/>
              </a:ext>
            </a:extLst>
          </p:cNvPr>
          <p:cNvSpPr/>
          <p:nvPr/>
        </p:nvSpPr>
        <p:spPr>
          <a:xfrm>
            <a:off x="1104364" y="5763220"/>
            <a:ext cx="3548896" cy="642699"/>
          </a:xfrm>
          <a:prstGeom prst="rect">
            <a:avLst/>
          </a:prstGeom>
          <a:noFill/>
          <a:ln/>
        </p:spPr>
        <p:txBody>
          <a:bodyPr wrap="square" lIns="0" tIns="0" rIns="0" bIns="0" rtlCol="0" anchor="t"/>
          <a:lstStyle/>
          <a:p>
            <a:pPr marL="0" indent="0" algn="l">
              <a:lnSpc>
                <a:spcPts val="2500"/>
              </a:lnSpc>
              <a:buNone/>
            </a:pPr>
            <a:r>
              <a:rPr lang="en-US" sz="1600" dirty="0">
                <a:solidFill>
                  <a:srgbClr val="BFBFBF"/>
                </a:solidFill>
                <a:latin typeface="Open Sans" pitchFamily="34" charset="0"/>
                <a:ea typeface="Open Sans" pitchFamily="34" charset="-122"/>
                <a:cs typeface="Open Sans" pitchFamily="34" charset="-120"/>
              </a:rPr>
              <a:t>Reducción del tiempo de respuesta a incidentes</a:t>
            </a:r>
            <a:endParaRPr lang="en-US" sz="1600" dirty="0"/>
          </a:p>
        </p:txBody>
      </p:sp>
      <p:pic>
        <p:nvPicPr>
          <p:cNvPr id="39" name="Image 2" descr="preencoded.png">
            <a:extLst>
              <a:ext uri="{FF2B5EF4-FFF2-40B4-BE49-F238E27FC236}">
                <a16:creationId xmlns:a16="http://schemas.microsoft.com/office/drawing/2014/main" id="{44D693A6-8957-FAA3-CDC1-FD665ED971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51915" y="5780008"/>
            <a:ext cx="313611" cy="313611"/>
          </a:xfrm>
          <a:prstGeom prst="rect">
            <a:avLst/>
          </a:prstGeom>
        </p:spPr>
      </p:pic>
      <p:sp>
        <p:nvSpPr>
          <p:cNvPr id="40" name="Text 13">
            <a:extLst>
              <a:ext uri="{FF2B5EF4-FFF2-40B4-BE49-F238E27FC236}">
                <a16:creationId xmlns:a16="http://schemas.microsoft.com/office/drawing/2014/main" id="{A97C47FF-B485-1700-3039-2FBD2110B260}"/>
              </a:ext>
            </a:extLst>
          </p:cNvPr>
          <p:cNvSpPr/>
          <p:nvPr/>
        </p:nvSpPr>
        <p:spPr>
          <a:xfrm>
            <a:off x="5364181" y="5780008"/>
            <a:ext cx="3008294" cy="642699"/>
          </a:xfrm>
          <a:prstGeom prst="rect">
            <a:avLst/>
          </a:prstGeom>
          <a:noFill/>
          <a:ln/>
        </p:spPr>
        <p:txBody>
          <a:bodyPr wrap="square" lIns="0" tIns="0" rIns="0" bIns="0" rtlCol="0" anchor="t"/>
          <a:lstStyle/>
          <a:p>
            <a:pPr marL="0" indent="0" algn="l">
              <a:lnSpc>
                <a:spcPts val="2500"/>
              </a:lnSpc>
              <a:buNone/>
            </a:pPr>
            <a:r>
              <a:rPr lang="en-US" sz="1600" dirty="0">
                <a:solidFill>
                  <a:srgbClr val="BFBFBF"/>
                </a:solidFill>
                <a:latin typeface="Open Sans" pitchFamily="34" charset="0"/>
                <a:ea typeface="Open Sans" pitchFamily="34" charset="-122"/>
                <a:cs typeface="Open Sans" pitchFamily="34" charset="-120"/>
              </a:rPr>
              <a:t>Cumplimiento regulatorio SFC demostrable</a:t>
            </a:r>
            <a:endParaRPr lang="en-US" sz="1600" dirty="0"/>
          </a:p>
        </p:txBody>
      </p:sp>
      <p:pic>
        <p:nvPicPr>
          <p:cNvPr id="41" name="Image 3" descr="preencoded.png">
            <a:extLst>
              <a:ext uri="{FF2B5EF4-FFF2-40B4-BE49-F238E27FC236}">
                <a16:creationId xmlns:a16="http://schemas.microsoft.com/office/drawing/2014/main" id="{086AE239-8C21-0D81-D372-32A97EA6A86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57519" y="5780007"/>
            <a:ext cx="313611" cy="313611"/>
          </a:xfrm>
          <a:prstGeom prst="rect">
            <a:avLst/>
          </a:prstGeom>
        </p:spPr>
      </p:pic>
      <p:sp>
        <p:nvSpPr>
          <p:cNvPr id="42" name="Text 14">
            <a:extLst>
              <a:ext uri="{FF2B5EF4-FFF2-40B4-BE49-F238E27FC236}">
                <a16:creationId xmlns:a16="http://schemas.microsoft.com/office/drawing/2014/main" id="{E60B4E6A-E554-A241-0CE5-76EF20AA501C}"/>
              </a:ext>
            </a:extLst>
          </p:cNvPr>
          <p:cNvSpPr/>
          <p:nvPr/>
        </p:nvSpPr>
        <p:spPr>
          <a:xfrm>
            <a:off x="8617385" y="5763219"/>
            <a:ext cx="3548896" cy="642699"/>
          </a:xfrm>
          <a:prstGeom prst="rect">
            <a:avLst/>
          </a:prstGeom>
          <a:noFill/>
          <a:ln/>
        </p:spPr>
        <p:txBody>
          <a:bodyPr wrap="square" lIns="0" tIns="0" rIns="0" bIns="0" rtlCol="0" anchor="t"/>
          <a:lstStyle/>
          <a:p>
            <a:pPr marL="0" indent="0" algn="l">
              <a:lnSpc>
                <a:spcPts val="2500"/>
              </a:lnSpc>
              <a:buNone/>
            </a:pPr>
            <a:r>
              <a:rPr lang="en-US" sz="1600" dirty="0">
                <a:solidFill>
                  <a:srgbClr val="BFBFBF"/>
                </a:solidFill>
                <a:latin typeface="Open Sans" pitchFamily="34" charset="0"/>
                <a:ea typeface="Open Sans" pitchFamily="34" charset="-122"/>
                <a:cs typeface="Open Sans" pitchFamily="34" charset="-120"/>
              </a:rPr>
              <a:t>Reducción de primas de ciber-seguro</a:t>
            </a:r>
            <a:endParaRPr lang="en-US" sz="1600" dirty="0"/>
          </a:p>
        </p:txBody>
      </p:sp>
      <p:sp>
        <p:nvSpPr>
          <p:cNvPr id="43" name="Text 9">
            <a:extLst>
              <a:ext uri="{FF2B5EF4-FFF2-40B4-BE49-F238E27FC236}">
                <a16:creationId xmlns:a16="http://schemas.microsoft.com/office/drawing/2014/main" id="{B9AC6CFB-59E7-846E-9DAF-43B93B8A7591}"/>
              </a:ext>
            </a:extLst>
          </p:cNvPr>
          <p:cNvSpPr/>
          <p:nvPr/>
        </p:nvSpPr>
        <p:spPr>
          <a:xfrm>
            <a:off x="6317902" y="1508164"/>
            <a:ext cx="2613779" cy="326588"/>
          </a:xfrm>
          <a:prstGeom prst="rect">
            <a:avLst/>
          </a:prstGeom>
          <a:noFill/>
          <a:ln/>
        </p:spPr>
        <p:txBody>
          <a:bodyPr wrap="none" lIns="0" tIns="0" rIns="0" bIns="0" rtlCol="0" anchor="t"/>
          <a:lstStyle/>
          <a:p>
            <a:pPr marL="0" indent="0" algn="l">
              <a:lnSpc>
                <a:spcPts val="2550"/>
              </a:lnSpc>
              <a:buNone/>
            </a:pPr>
            <a:r>
              <a:rPr lang="en-US" sz="2050" dirty="0">
                <a:latin typeface="Instrument Sans Medium" pitchFamily="34" charset="0"/>
                <a:ea typeface="Instrument Sans Medium" pitchFamily="34" charset="-122"/>
                <a:cs typeface="Instrument Sans Medium" pitchFamily="34" charset="-120"/>
              </a:rPr>
              <a:t>¿Qué incluye?</a:t>
            </a:r>
            <a:endParaRPr lang="en-US" sz="2050" dirty="0"/>
          </a:p>
        </p:txBody>
      </p:sp>
      <p:sp>
        <p:nvSpPr>
          <p:cNvPr id="44" name="Text 10">
            <a:extLst>
              <a:ext uri="{FF2B5EF4-FFF2-40B4-BE49-F238E27FC236}">
                <a16:creationId xmlns:a16="http://schemas.microsoft.com/office/drawing/2014/main" id="{10A0A952-5BC3-FC47-5AAF-5DA7FA922B53}"/>
              </a:ext>
            </a:extLst>
          </p:cNvPr>
          <p:cNvSpPr/>
          <p:nvPr/>
        </p:nvSpPr>
        <p:spPr>
          <a:xfrm>
            <a:off x="6317902" y="2085141"/>
            <a:ext cx="5438805" cy="2653784"/>
          </a:xfrm>
          <a:prstGeom prst="rect">
            <a:avLst/>
          </a:prstGeom>
          <a:noFill/>
          <a:ln/>
        </p:spPr>
        <p:txBody>
          <a:bodyPr wrap="square" lIns="0" tIns="0" rIns="0" bIns="0" rtlCol="0" anchor="t"/>
          <a:lstStyle/>
          <a:p>
            <a:pPr marL="342900" indent="-342900" algn="l">
              <a:lnSpc>
                <a:spcPts val="2500"/>
              </a:lnSpc>
              <a:buSzPct val="100000"/>
              <a:buChar char="•"/>
            </a:pPr>
            <a:r>
              <a:rPr lang="en-US" sz="1600" dirty="0">
                <a:latin typeface="Open Sans" pitchFamily="34" charset="0"/>
                <a:ea typeface="Open Sans" pitchFamily="34" charset="-122"/>
                <a:cs typeface="Open Sans" pitchFamily="34" charset="-120"/>
              </a:rPr>
              <a:t>Diseño y personalización del escenario TTX</a:t>
            </a:r>
            <a:endParaRPr lang="en-US" sz="1600" dirty="0"/>
          </a:p>
          <a:p>
            <a:pPr marL="342900" indent="-342900" algn="l">
              <a:lnSpc>
                <a:spcPts val="2500"/>
              </a:lnSpc>
              <a:buSzPct val="100000"/>
              <a:buChar char="•"/>
            </a:pPr>
            <a:r>
              <a:rPr lang="en-US" sz="1600" dirty="0">
                <a:latin typeface="Open Sans" pitchFamily="34" charset="0"/>
                <a:ea typeface="Open Sans" pitchFamily="34" charset="-122"/>
                <a:cs typeface="Open Sans" pitchFamily="34" charset="-120"/>
              </a:rPr>
              <a:t>Facilitación del ejercicio (4.5 horas)</a:t>
            </a:r>
            <a:endParaRPr lang="en-US" sz="1600" dirty="0"/>
          </a:p>
          <a:p>
            <a:pPr marL="342900" indent="-342900" algn="l">
              <a:lnSpc>
                <a:spcPts val="2500"/>
              </a:lnSpc>
              <a:buSzPct val="100000"/>
              <a:buChar char="•"/>
            </a:pPr>
            <a:r>
              <a:rPr lang="en-US" sz="1600" dirty="0">
                <a:latin typeface="Open Sans" pitchFamily="34" charset="0"/>
                <a:ea typeface="Open Sans" pitchFamily="34" charset="-122"/>
                <a:cs typeface="Open Sans" pitchFamily="34" charset="-120"/>
              </a:rPr>
              <a:t>Briefings individuales por rol</a:t>
            </a:r>
            <a:endParaRPr lang="en-US" sz="1600" dirty="0"/>
          </a:p>
          <a:p>
            <a:pPr marL="342900" indent="-342900" algn="l">
              <a:lnSpc>
                <a:spcPts val="2500"/>
              </a:lnSpc>
              <a:buSzPct val="100000"/>
              <a:buChar char="•"/>
            </a:pPr>
            <a:r>
              <a:rPr lang="en-US" sz="1600" dirty="0">
                <a:latin typeface="Open Sans" pitchFamily="34" charset="0"/>
                <a:ea typeface="Open Sans" pitchFamily="34" charset="-122"/>
                <a:cs typeface="Open Sans" pitchFamily="34" charset="-120"/>
              </a:rPr>
              <a:t>Informe ejecutivo + Mapa de calor + PAC</a:t>
            </a:r>
            <a:endParaRPr lang="en-US" sz="1600" dirty="0"/>
          </a:p>
          <a:p>
            <a:pPr marL="342900" indent="-342900" algn="l">
              <a:lnSpc>
                <a:spcPts val="2500"/>
              </a:lnSpc>
              <a:buSzPct val="100000"/>
              <a:buChar char="•"/>
            </a:pPr>
            <a:r>
              <a:rPr lang="en-US" sz="1600" dirty="0">
                <a:latin typeface="Open Sans" pitchFamily="34" charset="0"/>
                <a:ea typeface="Open Sans" pitchFamily="34" charset="-122"/>
                <a:cs typeface="Open Sans" pitchFamily="34" charset="-120"/>
              </a:rPr>
              <a:t>TTX Playbook reutilizable</a:t>
            </a:r>
            <a:endParaRPr lang="en-US" sz="1600" dirty="0"/>
          </a:p>
          <a:p>
            <a:pPr marL="342900" indent="-342900" algn="l">
              <a:lnSpc>
                <a:spcPts val="2500"/>
              </a:lnSpc>
              <a:buSzPct val="100000"/>
              <a:buChar char="•"/>
            </a:pPr>
            <a:r>
              <a:rPr lang="en-US" sz="1600" dirty="0">
                <a:latin typeface="Open Sans" pitchFamily="34" charset="0"/>
                <a:ea typeface="Open Sans" pitchFamily="34" charset="-122"/>
                <a:cs typeface="Open Sans" pitchFamily="34" charset="-120"/>
              </a:rPr>
              <a:t>Dashboard de métricas de madurez</a:t>
            </a:r>
            <a:endParaRPr lang="en-US" sz="1600" dirty="0"/>
          </a:p>
          <a:p>
            <a:pPr marL="342900" indent="-342900" algn="l">
              <a:lnSpc>
                <a:spcPts val="2500"/>
              </a:lnSpc>
              <a:buSzPct val="100000"/>
              <a:buChar char="•"/>
            </a:pPr>
            <a:r>
              <a:rPr lang="en-US" sz="1600" dirty="0">
                <a:latin typeface="Open Sans" pitchFamily="34" charset="0"/>
                <a:ea typeface="Open Sans" pitchFamily="34" charset="-122"/>
                <a:cs typeface="Open Sans" pitchFamily="34" charset="-120"/>
              </a:rPr>
              <a:t>1 sesión de seguimiento a los 30 días</a:t>
            </a:r>
            <a:endParaRPr lang="en-US" sz="1600" dirty="0"/>
          </a:p>
        </p:txBody>
      </p:sp>
    </p:spTree>
    <p:extLst>
      <p:ext uri="{BB962C8B-B14F-4D97-AF65-F5344CB8AC3E}">
        <p14:creationId xmlns:p14="http://schemas.microsoft.com/office/powerpoint/2010/main" val="4151109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EB72B39-A56C-8D4F-B284-5D7BA30AF747}"/>
              </a:ext>
            </a:extLst>
          </p:cNvPr>
          <p:cNvSpPr/>
          <p:nvPr/>
        </p:nvSpPr>
        <p:spPr>
          <a:xfrm>
            <a:off x="516029" y="635556"/>
            <a:ext cx="6040874" cy="675680"/>
          </a:xfrm>
          <a:prstGeom prst="rect">
            <a:avLst/>
          </a:prstGeom>
          <a:noFill/>
          <a:ln/>
        </p:spPr>
        <p:txBody>
          <a:bodyPr wrap="none" lIns="0" tIns="0" rIns="0" bIns="0" rtlCol="0" anchor="t"/>
          <a:lstStyle/>
          <a:p>
            <a:pPr marL="0" indent="0" algn="l">
              <a:lnSpc>
                <a:spcPts val="5300"/>
              </a:lnSpc>
              <a:buNone/>
            </a:pPr>
            <a:r>
              <a:rPr lang="en-US" sz="4250" dirty="0">
                <a:latin typeface="Instrument Sans Medium" pitchFamily="34" charset="0"/>
                <a:ea typeface="Instrument Sans Medium" pitchFamily="34" charset="-122"/>
                <a:cs typeface="Instrument Sans Medium" pitchFamily="34" charset="-120"/>
              </a:rPr>
              <a:t>¿Listos para Comenzar?</a:t>
            </a:r>
            <a:endParaRPr lang="en-US" sz="4250" dirty="0"/>
          </a:p>
        </p:txBody>
      </p:sp>
      <p:sp>
        <p:nvSpPr>
          <p:cNvPr id="5" name="Text 1">
            <a:extLst>
              <a:ext uri="{FF2B5EF4-FFF2-40B4-BE49-F238E27FC236}">
                <a16:creationId xmlns:a16="http://schemas.microsoft.com/office/drawing/2014/main" id="{08834636-D4D7-0E47-2045-F3B92FF174C5}"/>
              </a:ext>
            </a:extLst>
          </p:cNvPr>
          <p:cNvSpPr/>
          <p:nvPr/>
        </p:nvSpPr>
        <p:spPr>
          <a:xfrm>
            <a:off x="649379" y="1506022"/>
            <a:ext cx="7630716" cy="675561"/>
          </a:xfrm>
          <a:prstGeom prst="rect">
            <a:avLst/>
          </a:prstGeom>
          <a:noFill/>
          <a:ln/>
        </p:spPr>
        <p:txBody>
          <a:bodyPr wrap="square" lIns="0" tIns="0" rIns="0" bIns="0" rtlCol="0" anchor="t"/>
          <a:lstStyle/>
          <a:p>
            <a:pPr marL="0" indent="0" algn="l">
              <a:lnSpc>
                <a:spcPts val="2650"/>
              </a:lnSpc>
              <a:buNone/>
            </a:pPr>
            <a:r>
              <a:rPr lang="en-US" sz="1700" dirty="0">
                <a:latin typeface="Open Sans" pitchFamily="34" charset="0"/>
                <a:ea typeface="Open Sans" pitchFamily="34" charset="-122"/>
                <a:cs typeface="Open Sans" pitchFamily="34" charset="-120"/>
              </a:rPr>
              <a:t>Contáctenos para coordinar la sesión de kick-off y personalización del escenario para Seguros Alfa.</a:t>
            </a:r>
            <a:endParaRPr lang="en-US" sz="1700" dirty="0"/>
          </a:p>
        </p:txBody>
      </p:sp>
      <p:sp>
        <p:nvSpPr>
          <p:cNvPr id="6" name="Shape 3">
            <a:extLst>
              <a:ext uri="{FF2B5EF4-FFF2-40B4-BE49-F238E27FC236}">
                <a16:creationId xmlns:a16="http://schemas.microsoft.com/office/drawing/2014/main" id="{3C619981-B8B1-1F37-F5F9-0A207369FCBA}"/>
              </a:ext>
            </a:extLst>
          </p:cNvPr>
          <p:cNvSpPr/>
          <p:nvPr/>
        </p:nvSpPr>
        <p:spPr>
          <a:xfrm>
            <a:off x="1944779" y="2376369"/>
            <a:ext cx="3815358" cy="1569125"/>
          </a:xfrm>
          <a:prstGeom prst="roundRect">
            <a:avLst>
              <a:gd name="adj" fmla="val 1701"/>
            </a:avLst>
          </a:prstGeom>
          <a:solidFill>
            <a:srgbClr val="3E3E3E"/>
          </a:solidFill>
          <a:ln/>
        </p:spPr>
      </p:sp>
      <p:sp>
        <p:nvSpPr>
          <p:cNvPr id="7" name="Shape 6">
            <a:extLst>
              <a:ext uri="{FF2B5EF4-FFF2-40B4-BE49-F238E27FC236}">
                <a16:creationId xmlns:a16="http://schemas.microsoft.com/office/drawing/2014/main" id="{9CD2BEFF-A1FE-739D-97F2-4980D8B83F8B}"/>
              </a:ext>
            </a:extLst>
          </p:cNvPr>
          <p:cNvSpPr/>
          <p:nvPr/>
        </p:nvSpPr>
        <p:spPr>
          <a:xfrm>
            <a:off x="5760137" y="2376369"/>
            <a:ext cx="3815358" cy="1569125"/>
          </a:xfrm>
          <a:prstGeom prst="rect">
            <a:avLst/>
          </a:prstGeom>
          <a:solidFill>
            <a:srgbClr val="3E3E3E"/>
          </a:solidFill>
          <a:ln/>
        </p:spPr>
      </p:sp>
      <p:sp>
        <p:nvSpPr>
          <p:cNvPr id="8" name="Shape 10">
            <a:extLst>
              <a:ext uri="{FF2B5EF4-FFF2-40B4-BE49-F238E27FC236}">
                <a16:creationId xmlns:a16="http://schemas.microsoft.com/office/drawing/2014/main" id="{4C3C78B0-0BE1-76A7-85E7-D5340C9886EA}"/>
              </a:ext>
            </a:extLst>
          </p:cNvPr>
          <p:cNvSpPr/>
          <p:nvPr/>
        </p:nvSpPr>
        <p:spPr>
          <a:xfrm>
            <a:off x="1944779" y="3945494"/>
            <a:ext cx="7630716" cy="1569125"/>
          </a:xfrm>
          <a:prstGeom prst="rect">
            <a:avLst/>
          </a:prstGeom>
          <a:solidFill>
            <a:srgbClr val="3E3E3E"/>
          </a:solidFill>
          <a:ln/>
        </p:spPr>
      </p:sp>
      <p:sp>
        <p:nvSpPr>
          <p:cNvPr id="9" name="Shape 14">
            <a:extLst>
              <a:ext uri="{FF2B5EF4-FFF2-40B4-BE49-F238E27FC236}">
                <a16:creationId xmlns:a16="http://schemas.microsoft.com/office/drawing/2014/main" id="{025BD3CB-D59D-745D-2F33-7857004B497E}"/>
              </a:ext>
            </a:extLst>
          </p:cNvPr>
          <p:cNvSpPr/>
          <p:nvPr/>
        </p:nvSpPr>
        <p:spPr>
          <a:xfrm>
            <a:off x="1954304" y="5600402"/>
            <a:ext cx="7630716" cy="1019473"/>
          </a:xfrm>
          <a:prstGeom prst="roundRect">
            <a:avLst>
              <a:gd name="adj" fmla="val 2607"/>
            </a:avLst>
          </a:prstGeom>
          <a:solidFill>
            <a:srgbClr val="494904"/>
          </a:solidFill>
          <a:ln/>
        </p:spPr>
      </p:sp>
      <p:sp>
        <p:nvSpPr>
          <p:cNvPr id="10" name="Text 4">
            <a:extLst>
              <a:ext uri="{FF2B5EF4-FFF2-40B4-BE49-F238E27FC236}">
                <a16:creationId xmlns:a16="http://schemas.microsoft.com/office/drawing/2014/main" id="{C370C29B-CFA8-591F-4249-76A28FA2C98F}"/>
              </a:ext>
            </a:extLst>
          </p:cNvPr>
          <p:cNvSpPr/>
          <p:nvPr/>
        </p:nvSpPr>
        <p:spPr>
          <a:xfrm>
            <a:off x="2056103" y="2571215"/>
            <a:ext cx="3383161" cy="675561"/>
          </a:xfrm>
          <a:prstGeom prst="rect">
            <a:avLst/>
          </a:prstGeom>
          <a:noFill/>
          <a:ln/>
        </p:spPr>
        <p:txBody>
          <a:bodyPr wrap="square" lIns="0" tIns="0" rIns="0" bIns="0" rtlCol="0" anchor="t"/>
          <a:lstStyle/>
          <a:p>
            <a:pPr marL="0" indent="0" algn="l">
              <a:lnSpc>
                <a:spcPts val="2650"/>
              </a:lnSpc>
              <a:buNone/>
            </a:pPr>
            <a:r>
              <a:rPr lang="en-US" sz="2100" dirty="0">
                <a:solidFill>
                  <a:srgbClr val="BFBFBF"/>
                </a:solidFill>
                <a:latin typeface="Instrument Sans Medium" pitchFamily="34" charset="0"/>
                <a:ea typeface="Instrument Sans Medium" pitchFamily="34" charset="-122"/>
                <a:cs typeface="Instrument Sans Medium" pitchFamily="34" charset="-120"/>
              </a:rPr>
              <a:t>Contexto 100% colombiano</a:t>
            </a:r>
            <a:endParaRPr lang="en-US" sz="2100" dirty="0"/>
          </a:p>
        </p:txBody>
      </p:sp>
      <p:sp>
        <p:nvSpPr>
          <p:cNvPr id="11" name="Text 5">
            <a:extLst>
              <a:ext uri="{FF2B5EF4-FFF2-40B4-BE49-F238E27FC236}">
                <a16:creationId xmlns:a16="http://schemas.microsoft.com/office/drawing/2014/main" id="{1724F5DB-6A74-7D27-4682-CD3F24A0BC48}"/>
              </a:ext>
            </a:extLst>
          </p:cNvPr>
          <p:cNvSpPr/>
          <p:nvPr/>
        </p:nvSpPr>
        <p:spPr>
          <a:xfrm>
            <a:off x="2056102" y="3160931"/>
            <a:ext cx="3383161" cy="675561"/>
          </a:xfrm>
          <a:prstGeom prst="rect">
            <a:avLst/>
          </a:prstGeom>
          <a:noFill/>
          <a:ln/>
        </p:spPr>
        <p:txBody>
          <a:bodyPr wrap="square" lIns="0" tIns="0" rIns="0" bIns="0" rtlCol="0" anchor="t"/>
          <a:lstStyle/>
          <a:p>
            <a:pPr marL="0" indent="0" algn="l">
              <a:lnSpc>
                <a:spcPts val="2650"/>
              </a:lnSpc>
              <a:buNone/>
            </a:pPr>
            <a:r>
              <a:rPr lang="en-US" sz="1700" dirty="0">
                <a:solidFill>
                  <a:srgbClr val="BFBFBF"/>
                </a:solidFill>
                <a:latin typeface="Open Sans" pitchFamily="34" charset="0"/>
                <a:ea typeface="Open Sans" pitchFamily="34" charset="-122"/>
                <a:cs typeface="Open Sans" pitchFamily="34" charset="-120"/>
              </a:rPr>
              <a:t>Escenarios con amenazas reales: Blind Eagle, DIAN falsa, SFC falsa.</a:t>
            </a:r>
            <a:endParaRPr lang="en-US" sz="1700" dirty="0"/>
          </a:p>
        </p:txBody>
      </p:sp>
      <p:sp>
        <p:nvSpPr>
          <p:cNvPr id="12" name="Text 8">
            <a:extLst>
              <a:ext uri="{FF2B5EF4-FFF2-40B4-BE49-F238E27FC236}">
                <a16:creationId xmlns:a16="http://schemas.microsoft.com/office/drawing/2014/main" id="{DC592EC6-24FA-F063-3975-0F1EFA5F3AA2}"/>
              </a:ext>
            </a:extLst>
          </p:cNvPr>
          <p:cNvSpPr/>
          <p:nvPr/>
        </p:nvSpPr>
        <p:spPr>
          <a:xfrm>
            <a:off x="5976235" y="2598421"/>
            <a:ext cx="2702362" cy="337780"/>
          </a:xfrm>
          <a:prstGeom prst="rect">
            <a:avLst/>
          </a:prstGeom>
          <a:noFill/>
          <a:ln/>
        </p:spPr>
        <p:txBody>
          <a:bodyPr wrap="none" lIns="0" tIns="0" rIns="0" bIns="0" rtlCol="0" anchor="t"/>
          <a:lstStyle/>
          <a:p>
            <a:pPr marL="0" indent="0" algn="l">
              <a:lnSpc>
                <a:spcPts val="2650"/>
              </a:lnSpc>
              <a:buNone/>
            </a:pPr>
            <a:r>
              <a:rPr lang="en-US" sz="2100" dirty="0">
                <a:solidFill>
                  <a:srgbClr val="BFBFBF"/>
                </a:solidFill>
                <a:latin typeface="Instrument Sans Medium" pitchFamily="34" charset="0"/>
                <a:ea typeface="Instrument Sans Medium" pitchFamily="34" charset="-122"/>
                <a:cs typeface="Instrument Sans Medium" pitchFamily="34" charset="-120"/>
              </a:rPr>
              <a:t>+80 TTX facilitados</a:t>
            </a:r>
            <a:endParaRPr lang="en-US" sz="2100" dirty="0"/>
          </a:p>
        </p:txBody>
      </p:sp>
      <p:sp>
        <p:nvSpPr>
          <p:cNvPr id="13" name="Text 9">
            <a:extLst>
              <a:ext uri="{FF2B5EF4-FFF2-40B4-BE49-F238E27FC236}">
                <a16:creationId xmlns:a16="http://schemas.microsoft.com/office/drawing/2014/main" id="{0D39A431-4733-2BF7-646B-B2C1E6F61739}"/>
              </a:ext>
            </a:extLst>
          </p:cNvPr>
          <p:cNvSpPr/>
          <p:nvPr/>
        </p:nvSpPr>
        <p:spPr>
          <a:xfrm>
            <a:off x="5948958" y="3021984"/>
            <a:ext cx="3383161" cy="1013341"/>
          </a:xfrm>
          <a:prstGeom prst="rect">
            <a:avLst/>
          </a:prstGeom>
          <a:noFill/>
          <a:ln/>
        </p:spPr>
        <p:txBody>
          <a:bodyPr wrap="square" lIns="0" tIns="0" rIns="0" bIns="0" rtlCol="0" anchor="t"/>
          <a:lstStyle/>
          <a:p>
            <a:pPr marL="0" indent="0" algn="l">
              <a:lnSpc>
                <a:spcPts val="2650"/>
              </a:lnSpc>
              <a:buNone/>
            </a:pPr>
            <a:r>
              <a:rPr lang="en-US" sz="1700" dirty="0">
                <a:solidFill>
                  <a:srgbClr val="BFBFBF"/>
                </a:solidFill>
                <a:latin typeface="Open Sans" pitchFamily="34" charset="0"/>
                <a:ea typeface="Open Sans" pitchFamily="34" charset="-122"/>
                <a:cs typeface="Open Sans" pitchFamily="34" charset="-120"/>
              </a:rPr>
              <a:t>Experiencia en sectores regulados. Lenguaje adaptado a Junta Directiva y equipo técnico.</a:t>
            </a:r>
            <a:endParaRPr lang="en-US" sz="1700" dirty="0"/>
          </a:p>
        </p:txBody>
      </p:sp>
      <p:sp>
        <p:nvSpPr>
          <p:cNvPr id="14" name="Text 12">
            <a:extLst>
              <a:ext uri="{FF2B5EF4-FFF2-40B4-BE49-F238E27FC236}">
                <a16:creationId xmlns:a16="http://schemas.microsoft.com/office/drawing/2014/main" id="{4DB1FC56-42B7-4218-9B01-FD20723F8778}"/>
              </a:ext>
            </a:extLst>
          </p:cNvPr>
          <p:cNvSpPr/>
          <p:nvPr/>
        </p:nvSpPr>
        <p:spPr>
          <a:xfrm>
            <a:off x="2056102" y="4197430"/>
            <a:ext cx="2803208" cy="337780"/>
          </a:xfrm>
          <a:prstGeom prst="rect">
            <a:avLst/>
          </a:prstGeom>
          <a:noFill/>
          <a:ln/>
        </p:spPr>
        <p:txBody>
          <a:bodyPr wrap="none" lIns="0" tIns="0" rIns="0" bIns="0" rtlCol="0" anchor="t"/>
          <a:lstStyle/>
          <a:p>
            <a:pPr marL="0" indent="0" algn="l">
              <a:lnSpc>
                <a:spcPts val="2650"/>
              </a:lnSpc>
              <a:buNone/>
            </a:pPr>
            <a:r>
              <a:rPr lang="en-US" sz="2100" dirty="0">
                <a:solidFill>
                  <a:srgbClr val="BFBFBF"/>
                </a:solidFill>
                <a:latin typeface="Instrument Sans Medium" pitchFamily="34" charset="0"/>
                <a:ea typeface="Instrument Sans Medium" pitchFamily="34" charset="-122"/>
                <a:cs typeface="Instrument Sans Medium" pitchFamily="34" charset="-120"/>
              </a:rPr>
              <a:t>Frameworks aplicados</a:t>
            </a:r>
            <a:endParaRPr lang="en-US" sz="2100" dirty="0"/>
          </a:p>
        </p:txBody>
      </p:sp>
      <p:sp>
        <p:nvSpPr>
          <p:cNvPr id="15" name="Text 13">
            <a:extLst>
              <a:ext uri="{FF2B5EF4-FFF2-40B4-BE49-F238E27FC236}">
                <a16:creationId xmlns:a16="http://schemas.microsoft.com/office/drawing/2014/main" id="{0CE40D57-5E01-93DB-7879-BDCDE4C3A044}"/>
              </a:ext>
            </a:extLst>
          </p:cNvPr>
          <p:cNvSpPr/>
          <p:nvPr/>
        </p:nvSpPr>
        <p:spPr>
          <a:xfrm>
            <a:off x="2170402" y="4591109"/>
            <a:ext cx="7198519" cy="675561"/>
          </a:xfrm>
          <a:prstGeom prst="rect">
            <a:avLst/>
          </a:prstGeom>
          <a:noFill/>
          <a:ln/>
        </p:spPr>
        <p:txBody>
          <a:bodyPr wrap="square" lIns="0" tIns="0" rIns="0" bIns="0" rtlCol="0" anchor="t"/>
          <a:lstStyle/>
          <a:p>
            <a:pPr marL="0" indent="0" algn="l">
              <a:lnSpc>
                <a:spcPts val="2650"/>
              </a:lnSpc>
              <a:buNone/>
            </a:pPr>
            <a:r>
              <a:rPr lang="en-US" sz="1700" dirty="0">
                <a:solidFill>
                  <a:srgbClr val="BFBFBF"/>
                </a:solidFill>
                <a:latin typeface="Open Sans" pitchFamily="34" charset="0"/>
                <a:ea typeface="Open Sans" pitchFamily="34" charset="-122"/>
                <a:cs typeface="Open Sans" pitchFamily="34" charset="-120"/>
              </a:rPr>
              <a:t>NIST CSF 2.0 · MITRE ATT&amp;CK · ISO 27001 · CIS Controls v8 · SARLAFT / SFC</a:t>
            </a:r>
            <a:endParaRPr lang="en-US" sz="1700" dirty="0"/>
          </a:p>
        </p:txBody>
      </p:sp>
      <p:sp>
        <p:nvSpPr>
          <p:cNvPr id="16" name="Text 15">
            <a:extLst>
              <a:ext uri="{FF2B5EF4-FFF2-40B4-BE49-F238E27FC236}">
                <a16:creationId xmlns:a16="http://schemas.microsoft.com/office/drawing/2014/main" id="{29298635-01DB-FE4E-4695-99CB84369009}"/>
              </a:ext>
            </a:extLst>
          </p:cNvPr>
          <p:cNvSpPr/>
          <p:nvPr/>
        </p:nvSpPr>
        <p:spPr>
          <a:xfrm>
            <a:off x="2083129" y="5766555"/>
            <a:ext cx="6712268" cy="690801"/>
          </a:xfrm>
          <a:prstGeom prst="rect">
            <a:avLst/>
          </a:prstGeom>
          <a:noFill/>
          <a:ln/>
        </p:spPr>
        <p:txBody>
          <a:bodyPr wrap="square" lIns="0" tIns="0" rIns="0" bIns="0" rtlCol="0" anchor="t"/>
          <a:lstStyle/>
          <a:p>
            <a:pPr marL="0" indent="0" algn="l">
              <a:lnSpc>
                <a:spcPts val="2650"/>
              </a:lnSpc>
              <a:buNone/>
            </a:pPr>
            <a:r>
              <a:rPr lang="en-US" sz="1700" dirty="0">
                <a:solidFill>
                  <a:srgbClr val="000000"/>
                </a:solidFill>
                <a:latin typeface="Open Sans" pitchFamily="34" charset="0"/>
                <a:ea typeface="Open Sans" pitchFamily="34" charset="-122"/>
                <a:cs typeface="Open Sans" pitchFamily="34" charset="-120"/>
              </a:rPr>
              <a:t>📧</a:t>
            </a:r>
            <a:r>
              <a:rPr lang="en-US" sz="1700" dirty="0">
                <a:solidFill>
                  <a:srgbClr val="FFFFFF"/>
                </a:solidFill>
                <a:latin typeface="Open Sans" pitchFamily="34" charset="0"/>
                <a:ea typeface="Open Sans" pitchFamily="34" charset="-122"/>
                <a:cs typeface="Open Sans" pitchFamily="34" charset="-120"/>
              </a:rPr>
              <a:t> </a:t>
            </a:r>
            <a:r>
              <a:rPr lang="en-US" sz="1700" u="sng" dirty="0">
                <a:solidFill>
                  <a:srgbClr val="F5F547"/>
                </a:solidFill>
                <a:latin typeface="Open Sans" pitchFamily="34" charset="0"/>
                <a:ea typeface="Open Sans" pitchFamily="34" charset="-122"/>
                <a:cs typeface="Open Sans" pitchFamily="34" charset="-120"/>
              </a:rPr>
              <a:t>servicioclientereset@gmail.com</a:t>
            </a:r>
            <a:r>
              <a:rPr lang="en-US" sz="1700" dirty="0">
                <a:solidFill>
                  <a:srgbClr val="FFFFFF"/>
                </a:solidFill>
                <a:latin typeface="Open Sans" pitchFamily="34" charset="0"/>
                <a:ea typeface="Open Sans" pitchFamily="34" charset="-122"/>
                <a:cs typeface="Open Sans" pitchFamily="34" charset="-120"/>
              </a:rPr>
              <a:t> · </a:t>
            </a:r>
            <a:r>
              <a:rPr lang="en-US" sz="1700" dirty="0">
                <a:solidFill>
                  <a:srgbClr val="000000"/>
                </a:solidFill>
                <a:latin typeface="Open Sans" pitchFamily="34" charset="0"/>
                <a:ea typeface="Open Sans" pitchFamily="34" charset="-122"/>
                <a:cs typeface="Open Sans" pitchFamily="34" charset="-120"/>
              </a:rPr>
              <a:t>📞</a:t>
            </a:r>
            <a:r>
              <a:rPr lang="en-US" sz="1700" dirty="0">
                <a:solidFill>
                  <a:srgbClr val="FFFFFF"/>
                </a:solidFill>
                <a:latin typeface="Open Sans" pitchFamily="34" charset="0"/>
                <a:ea typeface="Open Sans" pitchFamily="34" charset="-122"/>
                <a:cs typeface="Open Sans" pitchFamily="34" charset="-120"/>
              </a:rPr>
              <a:t> +57 305 7896246 · </a:t>
            </a:r>
            <a:r>
              <a:rPr lang="en-US" sz="1700" i="1" dirty="0">
                <a:solidFill>
                  <a:srgbClr val="FFFFFF"/>
                </a:solidFill>
                <a:latin typeface="Open Sans" pitchFamily="34" charset="0"/>
                <a:ea typeface="Open Sans" pitchFamily="34" charset="-122"/>
                <a:cs typeface="Open Sans" pitchFamily="34" charset="-120"/>
              </a:rPr>
              <a:t>Confidencial — Elaborado exclusivamente para Seguros Alfa · 2026</a:t>
            </a:r>
            <a:endParaRPr lang="en-US" sz="1700" dirty="0"/>
          </a:p>
        </p:txBody>
      </p:sp>
    </p:spTree>
    <p:extLst>
      <p:ext uri="{BB962C8B-B14F-4D97-AF65-F5344CB8AC3E}">
        <p14:creationId xmlns:p14="http://schemas.microsoft.com/office/powerpoint/2010/main" val="307007091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TotalTime>
  <Words>1077</Words>
  <Application>Microsoft Office PowerPoint</Application>
  <PresentationFormat>Panorámica</PresentationFormat>
  <Paragraphs>98</Paragraphs>
  <Slides>11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Aptos</vt:lpstr>
      <vt:lpstr>Aptos Display</vt:lpstr>
      <vt:lpstr>Arial</vt:lpstr>
      <vt:lpstr>Instrument Sans Medium</vt:lpstr>
      <vt:lpstr>Open Sans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EDUARDO GONZALEZ BUITRAGO</dc:creator>
  <cp:lastModifiedBy>DANIEL EDUARDO GONZALEZ BUITRAGO</cp:lastModifiedBy>
  <cp:revision>15</cp:revision>
  <dcterms:created xsi:type="dcterms:W3CDTF">2026-04-23T21:29:50Z</dcterms:created>
  <dcterms:modified xsi:type="dcterms:W3CDTF">2026-04-23T22:44:32Z</dcterms:modified>
</cp:coreProperties>
</file>